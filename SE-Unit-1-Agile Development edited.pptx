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9" r:id="rId24"/>
    <p:sldId id="278" r:id="rId25"/>
  </p:sldIdLst>
  <p:sldSz cx="12192000" cy="6858000"/>
  <p:notesSz cx="6858000" cy="9144000"/>
  <p:embeddedFontLst>
    <p:embeddedFont>
      <p:font typeface="Noto Sans Symbols" panose="020B0604020202020204" charset="0"/>
      <p:regular r:id="rId27"/>
      <p:bold r:id="rId28"/>
    </p:embeddedFont>
    <p:embeddedFont>
      <p:font typeface="Roboto Condensed" panose="020B0604020202020204" charset="0"/>
      <p:regular r:id="rId29"/>
      <p:bold r:id="rId30"/>
      <p:italic r:id="rId31"/>
      <p:boldItalic r:id="rId32"/>
    </p:embeddedFont>
    <p:embeddedFont>
      <p:font typeface="Roboto Condensed Light" panose="020B0604020202020204" charset="0"/>
      <p:regular r:id="rId33"/>
      <p:bold r:id="rId34"/>
      <p:italic r:id="rId35"/>
      <p:boldItalic r:id="rId36"/>
    </p:embeddedFont>
    <p:embeddedFont>
      <p:font typeface="Calibri" panose="020F0502020204030204" pitchFamily="34" charset="0"/>
      <p:regular r:id="rId37"/>
      <p:bold r:id="rId38"/>
      <p:italic r:id="rId39"/>
      <p:boldItalic r:id="rId4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41" roundtripDataSignature="AMtx7mivrsaoC0hN83Hhwnilz2gIKdrsO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375FFC0-9C61-3016-29B2-59B336A5C93E}" v="8" dt="2024-08-08T04:19:46.04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3" d="100"/>
          <a:sy n="83" d="100"/>
        </p:scale>
        <p:origin x="744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9" Type="http://schemas.openxmlformats.org/officeDocument/2006/relationships/font" Target="fonts/font13.fntdata"/><Relationship Id="rId21" Type="http://schemas.openxmlformats.org/officeDocument/2006/relationships/slide" Target="slides/slide20.xml"/><Relationship Id="rId34" Type="http://schemas.openxmlformats.org/officeDocument/2006/relationships/font" Target="fonts/font8.fntdata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6.fntdata"/><Relationship Id="rId37" Type="http://schemas.openxmlformats.org/officeDocument/2006/relationships/font" Target="fonts/font11.fntdata"/><Relationship Id="rId40" Type="http://schemas.openxmlformats.org/officeDocument/2006/relationships/font" Target="fonts/font14.fntdata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2.fntdata"/><Relationship Id="rId36" Type="http://schemas.openxmlformats.org/officeDocument/2006/relationships/font" Target="fonts/font10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5.fntdata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1.fntdata"/><Relationship Id="rId30" Type="http://schemas.openxmlformats.org/officeDocument/2006/relationships/font" Target="fonts/font4.fntdata"/><Relationship Id="rId35" Type="http://schemas.openxmlformats.org/officeDocument/2006/relationships/font" Target="fonts/font9.fntdata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7.fntdata"/><Relationship Id="rId38" Type="http://schemas.openxmlformats.org/officeDocument/2006/relationships/font" Target="fonts/font12.fntdata"/><Relationship Id="rId46" Type="http://schemas.microsoft.com/office/2015/10/relationships/revisionInfo" Target="revisionInfo.xml"/><Relationship Id="rId20" Type="http://schemas.openxmlformats.org/officeDocument/2006/relationships/slide" Target="slides/slide19.xml"/><Relationship Id="rId41" Type="http://customschemas.google.com/relationships/presentationmetadata" Target="meta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651296708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2ec05b7cb4e_0_4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2ec05b7cb4e_0_47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" name="Google Shape;63;g2ec05b7cb4e_0_47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9151440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" name="Google Shape;6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3996812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" name="Google Shape;7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7463137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8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1224875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" name="Google Shape;12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9672334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39217057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8921099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8867031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" name="Google Shape;164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0007023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" name="Google Shape;177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8756570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6" name="Google Shape;196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8902602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1" name="Google Shape;221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0855436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4" name="Google Shape;254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2311747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7" name="Google Shape;267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14297592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9" name="Google Shape;279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6363123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6" name="Google Shape;296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3100188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6" name="Google Shape;316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9918839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3" name="Google Shape;323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4848448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1" name="Google Shape;331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456371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g2ec05b7cb4e_0_4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4" name="Google Shape;354;g2ec05b7cb4e_0_48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5" name="Google Shape;355;g2ec05b7cb4e_0_48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20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7203481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g2ec05b7cb4e_0_4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1" name="Google Shape;361;g2ec05b7cb4e_0_48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2" name="Google Shape;362;g2ec05b7cb4e_0_48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21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1042384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g2ec05b7cb4e_0_4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8" name="Google Shape;368;g2ec05b7cb4e_0_49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9" name="Google Shape;369;g2ec05b7cb4e_0_49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22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9011211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3" name="Google Shape;383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946268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g2ec05b7cb4e_0_608"/>
          <p:cNvSpPr txBox="1">
            <a:spLocks noGrp="1"/>
          </p:cNvSpPr>
          <p:nvPr>
            <p:ph type="ctrTitle"/>
          </p:nvPr>
        </p:nvSpPr>
        <p:spPr>
          <a:xfrm>
            <a:off x="415611" y="992767"/>
            <a:ext cx="11360700" cy="27369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1pPr>
            <a:lvl2pPr lvl="1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2pPr>
            <a:lvl3pPr lvl="2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3pPr>
            <a:lvl4pPr lvl="3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4pPr>
            <a:lvl5pPr lvl="4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5pPr>
            <a:lvl6pPr lvl="5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6pPr>
            <a:lvl7pPr lvl="6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7pPr>
            <a:lvl8pPr lvl="7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8pPr>
            <a:lvl9pPr lvl="8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9pPr>
          </a:lstStyle>
          <a:p>
            <a:endParaRPr/>
          </a:p>
        </p:txBody>
      </p:sp>
      <p:sp>
        <p:nvSpPr>
          <p:cNvPr id="14" name="Google Shape;14;g2ec05b7cb4e_0_608"/>
          <p:cNvSpPr txBox="1">
            <a:spLocks noGrp="1"/>
          </p:cNvSpPr>
          <p:nvPr>
            <p:ph type="subTitle" idx="1"/>
          </p:nvPr>
        </p:nvSpPr>
        <p:spPr>
          <a:xfrm>
            <a:off x="415600" y="3778833"/>
            <a:ext cx="11360700" cy="1056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9pPr>
          </a:lstStyle>
          <a:p>
            <a:endParaRPr/>
          </a:p>
        </p:txBody>
      </p:sp>
      <p:sp>
        <p:nvSpPr>
          <p:cNvPr id="15" name="Google Shape;15;g2ec05b7cb4e_0_608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g2ec05b7cb4e_0_612"/>
          <p:cNvSpPr txBox="1">
            <a:spLocks noGrp="1"/>
          </p:cNvSpPr>
          <p:nvPr>
            <p:ph type="title"/>
          </p:nvPr>
        </p:nvSpPr>
        <p:spPr>
          <a:xfrm>
            <a:off x="415600" y="2867800"/>
            <a:ext cx="11360700" cy="11223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8" name="Google Shape;18;g2ec05b7cb4e_0_612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g2ec05b7cb4e_0_615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g2ec05b7cb4e_0_615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810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marL="914400" lvl="1" indent="-34925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marL="1371600" lvl="2" indent="-34925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marL="1828800" lvl="3" indent="-34925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marL="2286000" lvl="4" indent="-34925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marL="2743200" lvl="5" indent="-34925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marL="3200400" lvl="6" indent="-34925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marL="3657600" lvl="7" indent="-34925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marL="4114800" lvl="8" indent="-34925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>
            <a:endParaRPr/>
          </a:p>
        </p:txBody>
      </p:sp>
      <p:sp>
        <p:nvSpPr>
          <p:cNvPr id="22" name="Google Shape;22;g2ec05b7cb4e_0_615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g2ec05b7cb4e_0_619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g2ec05b7cb4e_0_619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5333100" cy="45552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4925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marL="914400" lvl="1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26" name="Google Shape;26;g2ec05b7cb4e_0_619"/>
          <p:cNvSpPr txBox="1">
            <a:spLocks noGrp="1"/>
          </p:cNvSpPr>
          <p:nvPr>
            <p:ph type="body" idx="2"/>
          </p:nvPr>
        </p:nvSpPr>
        <p:spPr>
          <a:xfrm>
            <a:off x="6443200" y="1536633"/>
            <a:ext cx="5333100" cy="45552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4925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marL="914400" lvl="1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g2ec05b7cb4e_0_624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g2ec05b7cb4e_0_627"/>
          <p:cNvSpPr txBox="1">
            <a:spLocks noGrp="1"/>
          </p:cNvSpPr>
          <p:nvPr>
            <p:ph type="title"/>
          </p:nvPr>
        </p:nvSpPr>
        <p:spPr>
          <a:xfrm>
            <a:off x="415600" y="740800"/>
            <a:ext cx="3744000" cy="10077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>
            <a:endParaRPr/>
          </a:p>
        </p:txBody>
      </p:sp>
      <p:sp>
        <p:nvSpPr>
          <p:cNvPr id="31" name="Google Shape;31;g2ec05b7cb4e_0_627"/>
          <p:cNvSpPr txBox="1">
            <a:spLocks noGrp="1"/>
          </p:cNvSpPr>
          <p:nvPr>
            <p:ph type="body" idx="1"/>
          </p:nvPr>
        </p:nvSpPr>
        <p:spPr>
          <a:xfrm>
            <a:off x="415600" y="1852800"/>
            <a:ext cx="3744000" cy="42393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marL="914400" lvl="1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g2ec05b7cb4e_0_631"/>
          <p:cNvSpPr txBox="1">
            <a:spLocks noGrp="1"/>
          </p:cNvSpPr>
          <p:nvPr>
            <p:ph type="title"/>
          </p:nvPr>
        </p:nvSpPr>
        <p:spPr>
          <a:xfrm>
            <a:off x="653667" y="600200"/>
            <a:ext cx="8490300" cy="54543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1pPr>
            <a:lvl2pPr lvl="1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2pPr>
            <a:lvl3pPr lvl="2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3pPr>
            <a:lvl4pPr lvl="3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4pPr>
            <a:lvl5pPr lvl="4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5pPr>
            <a:lvl6pPr lvl="5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6pPr>
            <a:lvl7pPr lvl="6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7pPr>
            <a:lvl8pPr lvl="7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8pPr>
            <a:lvl9pPr lvl="8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g2ec05b7cb4e_0_634"/>
          <p:cNvSpPr/>
          <p:nvPr/>
        </p:nvSpPr>
        <p:spPr>
          <a:xfrm>
            <a:off x="6096000" y="-167"/>
            <a:ext cx="6096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" name="Google Shape;36;g2ec05b7cb4e_0_634"/>
          <p:cNvSpPr txBox="1">
            <a:spLocks noGrp="1"/>
          </p:cNvSpPr>
          <p:nvPr>
            <p:ph type="title"/>
          </p:nvPr>
        </p:nvSpPr>
        <p:spPr>
          <a:xfrm>
            <a:off x="354000" y="1644233"/>
            <a:ext cx="5393700" cy="19764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lvl="1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>
            <a:endParaRPr/>
          </a:p>
        </p:txBody>
      </p:sp>
      <p:sp>
        <p:nvSpPr>
          <p:cNvPr id="37" name="Google Shape;37;g2ec05b7cb4e_0_634"/>
          <p:cNvSpPr txBox="1">
            <a:spLocks noGrp="1"/>
          </p:cNvSpPr>
          <p:nvPr>
            <p:ph type="subTitle" idx="1"/>
          </p:nvPr>
        </p:nvSpPr>
        <p:spPr>
          <a:xfrm>
            <a:off x="354000" y="3737433"/>
            <a:ext cx="5393700" cy="16467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38" name="Google Shape;38;g2ec05b7cb4e_0_634"/>
          <p:cNvSpPr txBox="1">
            <a:spLocks noGrp="1"/>
          </p:cNvSpPr>
          <p:nvPr>
            <p:ph type="body" idx="2"/>
          </p:nvPr>
        </p:nvSpPr>
        <p:spPr>
          <a:xfrm>
            <a:off x="6586000" y="965433"/>
            <a:ext cx="5115900" cy="49269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457200" lvl="0" indent="-3810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marL="914400" lvl="1" indent="-34925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marL="1371600" lvl="2" indent="-34925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marL="1828800" lvl="3" indent="-34925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marL="2286000" lvl="4" indent="-34925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marL="2743200" lvl="5" indent="-34925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marL="3200400" lvl="6" indent="-34925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marL="3657600" lvl="7" indent="-34925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marL="4114800" lvl="8" indent="-34925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>
            <a:endParaRPr/>
          </a:p>
        </p:txBody>
      </p:sp>
      <p:sp>
        <p:nvSpPr>
          <p:cNvPr id="39" name="Google Shape;39;g2ec05b7cb4e_0_634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g2ec05b7cb4e_0_640"/>
          <p:cNvSpPr txBox="1">
            <a:spLocks noGrp="1"/>
          </p:cNvSpPr>
          <p:nvPr>
            <p:ph type="body" idx="1"/>
          </p:nvPr>
        </p:nvSpPr>
        <p:spPr>
          <a:xfrm>
            <a:off x="415600" y="5640767"/>
            <a:ext cx="7998300" cy="806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</a:lstStyle>
          <a:p>
            <a:endParaRPr/>
          </a:p>
        </p:txBody>
      </p:sp>
      <p:sp>
        <p:nvSpPr>
          <p:cNvPr id="42" name="Google Shape;42;g2ec05b7cb4e_0_640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g2ec05b7cb4e_0_643"/>
          <p:cNvSpPr txBox="1">
            <a:spLocks noGrp="1"/>
          </p:cNvSpPr>
          <p:nvPr>
            <p:ph type="title" hasCustomPrompt="1"/>
          </p:nvPr>
        </p:nvSpPr>
        <p:spPr>
          <a:xfrm>
            <a:off x="415600" y="1474833"/>
            <a:ext cx="11360700" cy="26181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9pPr>
          </a:lstStyle>
          <a:p>
            <a:r>
              <a:t>xx%</a:t>
            </a:r>
          </a:p>
        </p:txBody>
      </p:sp>
      <p:sp>
        <p:nvSpPr>
          <p:cNvPr id="45" name="Google Shape;45;g2ec05b7cb4e_0_643"/>
          <p:cNvSpPr txBox="1">
            <a:spLocks noGrp="1"/>
          </p:cNvSpPr>
          <p:nvPr>
            <p:ph type="body" idx="1"/>
          </p:nvPr>
        </p:nvSpPr>
        <p:spPr>
          <a:xfrm>
            <a:off x="415600" y="4202967"/>
            <a:ext cx="11360700" cy="17343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81000" algn="ctr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marL="914400" lvl="1" indent="-349250" algn="ctr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marL="1371600" lvl="2" indent="-349250" algn="ctr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marL="1828800" lvl="3" indent="-349250" algn="ctr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marL="2286000" lvl="4" indent="-349250" algn="ctr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marL="2743200" lvl="5" indent="-349250" algn="ctr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marL="3200400" lvl="6" indent="-349250" algn="ctr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marL="3657600" lvl="7" indent="-349250" algn="ctr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marL="4114800" lvl="8" indent="-349250" algn="ctr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>
            <a:endParaRPr/>
          </a:p>
        </p:txBody>
      </p:sp>
      <p:sp>
        <p:nvSpPr>
          <p:cNvPr id="46" name="Google Shape;46;g2ec05b7cb4e_0_643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g2ec05b7cb4e_0_647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>
  <p:cSld name="SECTION_HEADER_1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g2ec05b7cb4e_0_649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D3064"/>
              </a:buClr>
              <a:buSzPts val="6000"/>
              <a:buFont typeface="Roboto Condensed"/>
              <a:buNone/>
              <a:defRPr sz="6000" b="1">
                <a:solidFill>
                  <a:srgbClr val="1D3064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g2ec05b7cb4e_0_649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1pPr>
            <a:lvl2pPr marL="914400" lvl="1" indent="-2286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8A8A8A"/>
              </a:buClr>
              <a:buSzPts val="2000"/>
              <a:buNone/>
              <a:defRPr sz="2000">
                <a:solidFill>
                  <a:srgbClr val="8A8A8A"/>
                </a:solidFill>
              </a:defRPr>
            </a:lvl2pPr>
            <a:lvl3pPr marL="1371600" lvl="2" indent="-2286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8A8A8A"/>
              </a:buClr>
              <a:buSzPts val="1800"/>
              <a:buNone/>
              <a:defRPr sz="1800">
                <a:solidFill>
                  <a:srgbClr val="8A8A8A"/>
                </a:solidFill>
              </a:defRPr>
            </a:lvl3pPr>
            <a:lvl4pPr marL="1828800" lvl="3" indent="-2286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8A8A8A"/>
              </a:buClr>
              <a:buSzPts val="1600"/>
              <a:buNone/>
              <a:defRPr sz="1600">
                <a:solidFill>
                  <a:srgbClr val="8A8A8A"/>
                </a:solidFill>
              </a:defRPr>
            </a:lvl4pPr>
            <a:lvl5pPr marL="2286000" lvl="4" indent="-2286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8A8A8A"/>
              </a:buClr>
              <a:buSzPts val="1600"/>
              <a:buNone/>
              <a:defRPr sz="1600">
                <a:solidFill>
                  <a:srgbClr val="8A8A8A"/>
                </a:solidFill>
              </a:defRPr>
            </a:lvl5pPr>
            <a:lvl6pPr marL="2743200" lvl="5" indent="-2286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8A8A8A"/>
              </a:buClr>
              <a:buSzPts val="1600"/>
              <a:buNone/>
              <a:defRPr sz="1600">
                <a:solidFill>
                  <a:srgbClr val="8A8A8A"/>
                </a:solidFill>
              </a:defRPr>
            </a:lvl6pPr>
            <a:lvl7pPr marL="3200400" lvl="6" indent="-2286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8A8A8A"/>
              </a:buClr>
              <a:buSzPts val="1600"/>
              <a:buNone/>
              <a:defRPr sz="1600">
                <a:solidFill>
                  <a:srgbClr val="8A8A8A"/>
                </a:solidFill>
              </a:defRPr>
            </a:lvl7pPr>
            <a:lvl8pPr marL="3657600" lvl="7" indent="-2286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8A8A8A"/>
              </a:buClr>
              <a:buSzPts val="1600"/>
              <a:buNone/>
              <a:defRPr sz="1600">
                <a:solidFill>
                  <a:srgbClr val="8A8A8A"/>
                </a:solidFill>
              </a:defRPr>
            </a:lvl8pPr>
            <a:lvl9pPr marL="4114800" lvl="8" indent="-228600" algn="l" rtl="0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rgbClr val="8A8A8A"/>
              </a:buClr>
              <a:buSzPts val="1600"/>
              <a:buNone/>
              <a:defRPr sz="1600">
                <a:solidFill>
                  <a:srgbClr val="8A8A8A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 - Logo on BR">
  <p:cSld name="Title and Content - Logo on BR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Google Shape;53;g2ec05b7cb4e_0_652"/>
          <p:cNvPicPr preferRelativeResize="0"/>
          <p:nvPr/>
        </p:nvPicPr>
        <p:blipFill rotWithShape="1">
          <a:blip r:embed="rId2">
            <a:alphaModFix/>
          </a:blip>
          <a:srcRect t="86739" r="1768" b="3534"/>
          <a:stretch/>
        </p:blipFill>
        <p:spPr>
          <a:xfrm>
            <a:off x="0" y="0"/>
            <a:ext cx="12192001" cy="711200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g2ec05b7cb4e_0_652"/>
          <p:cNvSpPr txBox="1">
            <a:spLocks noGrp="1"/>
          </p:cNvSpPr>
          <p:nvPr>
            <p:ph type="title"/>
          </p:nvPr>
        </p:nvSpPr>
        <p:spPr>
          <a:xfrm>
            <a:off x="0" y="1"/>
            <a:ext cx="12192000" cy="711300"/>
          </a:xfrm>
          <a:prstGeom prst="rect">
            <a:avLst/>
          </a:prstGeom>
          <a:solidFill>
            <a:srgbClr val="C0C0C0">
              <a:alpha val="49800"/>
            </a:srgbClr>
          </a:solidFill>
          <a:ln>
            <a:noFill/>
          </a:ln>
        </p:spPr>
        <p:txBody>
          <a:bodyPr spcFirstLastPara="1" wrap="square" lIns="216000" tIns="108000" rIns="216000" bIns="1080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3400"/>
              <a:buFont typeface="Roboto Condensed"/>
              <a:buNone/>
              <a:defRPr sz="3400" b="1">
                <a:solidFill>
                  <a:srgbClr val="363636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g2ec05b7cb4e_0_652"/>
          <p:cNvSpPr txBox="1">
            <a:spLocks noGrp="1"/>
          </p:cNvSpPr>
          <p:nvPr>
            <p:ph type="body" idx="1"/>
          </p:nvPr>
        </p:nvSpPr>
        <p:spPr>
          <a:xfrm>
            <a:off x="131180" y="863444"/>
            <a:ext cx="11929500" cy="55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Noto Sans Symbols"/>
              <a:buChar char="🞂"/>
              <a:defRPr sz="2400">
                <a:solidFill>
                  <a:schemeClr val="dk1"/>
                </a:solidFill>
              </a:defRPr>
            </a:lvl1pPr>
            <a:lvl2pPr marL="914400" lvl="1" indent="-355600" algn="just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BF2323"/>
              </a:buClr>
              <a:buSzPts val="2000"/>
              <a:buFont typeface="Noto Sans Symbols"/>
              <a:buChar char="⮩"/>
              <a:defRPr sz="2000">
                <a:solidFill>
                  <a:schemeClr val="dk1"/>
                </a:solidFill>
              </a:defRPr>
            </a:lvl2pPr>
            <a:lvl3pPr marL="1371600" lvl="2" indent="-342900" algn="just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Noto Sans Symbols"/>
              <a:buChar char="▪"/>
              <a:defRPr sz="1800">
                <a:solidFill>
                  <a:schemeClr val="dk1"/>
                </a:solidFill>
              </a:defRPr>
            </a:lvl3pPr>
            <a:lvl4pPr marL="1828800" lvl="3" indent="-330200" algn="just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FF0000"/>
              </a:buClr>
              <a:buSzPts val="1600"/>
              <a:buChar char="●"/>
              <a:defRPr sz="1600">
                <a:solidFill>
                  <a:schemeClr val="dk1"/>
                </a:solidFill>
              </a:defRPr>
            </a:lvl4pPr>
            <a:lvl5pPr marL="2286000" lvl="4" indent="-330200" algn="just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FF0000"/>
              </a:buClr>
              <a:buSzPts val="1600"/>
              <a:buChar char="○"/>
              <a:defRPr sz="1600">
                <a:solidFill>
                  <a:schemeClr val="dk1"/>
                </a:solidFill>
              </a:defRPr>
            </a:lvl5pPr>
            <a:lvl6pPr marL="2743200" lvl="5" indent="-3429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800"/>
              <a:buChar char="■"/>
              <a:defRPr/>
            </a:lvl9pPr>
          </a:lstStyle>
          <a:p>
            <a:endParaRPr/>
          </a:p>
        </p:txBody>
      </p:sp>
      <p:cxnSp>
        <p:nvCxnSpPr>
          <p:cNvPr id="56" name="Google Shape;56;g2ec05b7cb4e_0_652"/>
          <p:cNvCxnSpPr/>
          <p:nvPr/>
        </p:nvCxnSpPr>
        <p:spPr>
          <a:xfrm>
            <a:off x="0" y="711201"/>
            <a:ext cx="12192000" cy="0"/>
          </a:xfrm>
          <a:prstGeom prst="straightConnector1">
            <a:avLst/>
          </a:prstGeom>
          <a:noFill/>
          <a:ln w="12700" cap="flat" cmpd="sng">
            <a:solidFill>
              <a:srgbClr val="D8D8D8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 - Red">
  <p:cSld name="1_Title Slide - Red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2ec05b7cb4e_0_661"/>
          <p:cNvSpPr/>
          <p:nvPr/>
        </p:nvSpPr>
        <p:spPr>
          <a:xfrm rot="5400000">
            <a:off x="4309315" y="1717105"/>
            <a:ext cx="3461700" cy="2984100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F2F2F2"/>
          </a:solidFill>
          <a:ln w="57150" cap="flat" cmpd="sng">
            <a:solidFill>
              <a:srgbClr val="FF0000"/>
            </a:solidFill>
            <a:prstDash val="lgDash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59" name="Google Shape;59;g2ec05b7cb4e_0_661"/>
          <p:cNvSpPr txBox="1"/>
          <p:nvPr/>
        </p:nvSpPr>
        <p:spPr>
          <a:xfrm>
            <a:off x="5014038" y="2239638"/>
            <a:ext cx="2052300" cy="193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6000" b="1" i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Thank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6000" b="1" i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You</a:t>
            </a: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2ec05b7cb4e_0_604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1" name="Google Shape;11;g2ec05b7cb4e_0_604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Char char="●"/>
              <a:defRPr sz="2400">
                <a:solidFill>
                  <a:schemeClr val="dk2"/>
                </a:solidFill>
              </a:defRPr>
            </a:lvl1pPr>
            <a:lvl2pPr marL="914400" lvl="1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○"/>
              <a:defRPr sz="1900">
                <a:solidFill>
                  <a:schemeClr val="dk2"/>
                </a:solidFill>
              </a:defRPr>
            </a:lvl2pPr>
            <a:lvl3pPr marL="1371600" lvl="2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■"/>
              <a:defRPr sz="1900">
                <a:solidFill>
                  <a:schemeClr val="dk2"/>
                </a:solidFill>
              </a:defRPr>
            </a:lvl3pPr>
            <a:lvl4pPr marL="1828800" lvl="3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●"/>
              <a:defRPr sz="1900">
                <a:solidFill>
                  <a:schemeClr val="dk2"/>
                </a:solidFill>
              </a:defRPr>
            </a:lvl4pPr>
            <a:lvl5pPr marL="2286000" lvl="4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○"/>
              <a:defRPr sz="1900">
                <a:solidFill>
                  <a:schemeClr val="dk2"/>
                </a:solidFill>
              </a:defRPr>
            </a:lvl5pPr>
            <a:lvl6pPr marL="2743200" lvl="5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■"/>
              <a:defRPr sz="1900">
                <a:solidFill>
                  <a:schemeClr val="dk2"/>
                </a:solidFill>
              </a:defRPr>
            </a:lvl6pPr>
            <a:lvl7pPr marL="3200400" lvl="6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●"/>
              <a:defRPr sz="1900">
                <a:solidFill>
                  <a:schemeClr val="dk2"/>
                </a:solidFill>
              </a:defRPr>
            </a:lvl7pPr>
            <a:lvl8pPr marL="3657600" lvl="7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○"/>
              <a:defRPr sz="1900">
                <a:solidFill>
                  <a:schemeClr val="dk2"/>
                </a:solidFill>
              </a:defRPr>
            </a:lvl8pPr>
            <a:lvl9pPr marL="4114800" lvl="8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■"/>
              <a:defRPr sz="19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g"/><Relationship Id="rId3" Type="http://schemas.openxmlformats.org/officeDocument/2006/relationships/image" Target="../media/image2.jpg"/><Relationship Id="rId7" Type="http://schemas.openxmlformats.org/officeDocument/2006/relationships/image" Target="../media/image6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5.jp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5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0.jp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26.png"/><Relationship Id="rId7" Type="http://schemas.openxmlformats.org/officeDocument/2006/relationships/image" Target="../media/image29.png"/><Relationship Id="rId12" Type="http://schemas.openxmlformats.org/officeDocument/2006/relationships/image" Target="../media/image3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8.png"/><Relationship Id="rId11" Type="http://schemas.openxmlformats.org/officeDocument/2006/relationships/image" Target="../media/image32.png"/><Relationship Id="rId5" Type="http://schemas.openxmlformats.org/officeDocument/2006/relationships/image" Target="../media/image21.png"/><Relationship Id="rId10" Type="http://schemas.openxmlformats.org/officeDocument/2006/relationships/image" Target="../media/image31.jpg"/><Relationship Id="rId4" Type="http://schemas.openxmlformats.org/officeDocument/2006/relationships/image" Target="../media/image27.png"/><Relationship Id="rId9" Type="http://schemas.openxmlformats.org/officeDocument/2006/relationships/image" Target="../media/image3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4.jp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2ec05b7cb4e_0_475"/>
          <p:cNvSpPr/>
          <p:nvPr/>
        </p:nvSpPr>
        <p:spPr>
          <a:xfrm>
            <a:off x="508225" y="150725"/>
            <a:ext cx="11016900" cy="299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4800" b="0" i="0" u="none" strike="noStrike" cap="none" dirty="0">
                <a:solidFill>
                  <a:srgbClr val="373737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Unit-</a:t>
            </a:r>
            <a:r>
              <a:rPr lang="en-IN" sz="4800" dirty="0">
                <a:solidFill>
                  <a:srgbClr val="373737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 1</a:t>
            </a:r>
            <a:r>
              <a:rPr lang="en-IN" sz="1800" b="0" i="0" u="none" strike="noStrike" cap="none" dirty="0">
                <a:latin typeface="Arial"/>
                <a:ea typeface="Arial"/>
                <a:cs typeface="Arial"/>
              </a:rPr>
              <a:t/>
            </a:r>
            <a:br>
              <a:rPr lang="en-IN" sz="1800" b="0" i="0" u="none" strike="noStrike" cap="none" dirty="0">
                <a:latin typeface="Arial"/>
                <a:ea typeface="Arial"/>
                <a:cs typeface="Arial"/>
              </a:rPr>
            </a:br>
            <a:r>
              <a:rPr lang="en-IN" sz="5000" b="1">
                <a:solidFill>
                  <a:srgbClr val="B71B1C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Agile</a:t>
            </a:r>
            <a:r>
              <a:rPr lang="en-IN" sz="5000" b="1">
                <a:solidFill>
                  <a:srgbClr val="373737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IN" sz="5000" b="1" smtClean="0">
                <a:solidFill>
                  <a:srgbClr val="373737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Development</a:t>
            </a:r>
            <a:endParaRPr sz="3200" b="1" dirty="0">
              <a:solidFill>
                <a:srgbClr val="373737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3400" b="1" dirty="0">
              <a:solidFill>
                <a:srgbClr val="373737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5400" b="1" dirty="0">
              <a:solidFill>
                <a:srgbClr val="373737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66" name="Google Shape;66;g2ec05b7cb4e_0_475"/>
          <p:cNvSpPr txBox="1"/>
          <p:nvPr/>
        </p:nvSpPr>
        <p:spPr>
          <a:xfrm>
            <a:off x="425100" y="3625500"/>
            <a:ext cx="11341800" cy="26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000" b="1">
                <a:solidFill>
                  <a:srgbClr val="373737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Reference Book:</a:t>
            </a:r>
            <a:endParaRPr sz="3000" b="1">
              <a:solidFill>
                <a:srgbClr val="373737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000" b="1">
                <a:solidFill>
                  <a:srgbClr val="0570A6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Software Engineering -A Practitioner’s Approach (Seventh Edition) - Roger S. Pressman.</a:t>
            </a:r>
            <a:endParaRPr sz="3000" b="1">
              <a:solidFill>
                <a:srgbClr val="0570A6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000" b="1">
              <a:solidFill>
                <a:srgbClr val="373737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000" b="1">
                <a:solidFill>
                  <a:srgbClr val="373737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Chapter 3: Agile Development</a:t>
            </a:r>
            <a:endParaRPr sz="3000" b="1">
              <a:solidFill>
                <a:srgbClr val="373737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000" b="1">
              <a:solidFill>
                <a:srgbClr val="373737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1" name="Google Shape;71;p2"/>
          <p:cNvCxnSpPr>
            <a:endCxn id="72" idx="0"/>
          </p:cNvCxnSpPr>
          <p:nvPr/>
        </p:nvCxnSpPr>
        <p:spPr>
          <a:xfrm>
            <a:off x="1191446" y="106"/>
            <a:ext cx="0" cy="682800"/>
          </a:xfrm>
          <a:prstGeom prst="straightConnector1">
            <a:avLst/>
          </a:prstGeom>
          <a:noFill/>
          <a:ln w="9525" cap="flat" cmpd="sng">
            <a:solidFill>
              <a:srgbClr val="A5A5A5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73" name="Google Shape;73;p2"/>
          <p:cNvCxnSpPr/>
          <p:nvPr/>
        </p:nvCxnSpPr>
        <p:spPr>
          <a:xfrm>
            <a:off x="1191446" y="6092331"/>
            <a:ext cx="0" cy="1794387"/>
          </a:xfrm>
          <a:prstGeom prst="straightConnector1">
            <a:avLst/>
          </a:prstGeom>
          <a:noFill/>
          <a:ln w="9525" cap="flat" cmpd="sng">
            <a:solidFill>
              <a:srgbClr val="A5A5A5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72" name="Google Shape;72;p2"/>
          <p:cNvSpPr/>
          <p:nvPr/>
        </p:nvSpPr>
        <p:spPr>
          <a:xfrm>
            <a:off x="954165" y="682906"/>
            <a:ext cx="474562" cy="474562"/>
          </a:xfrm>
          <a:prstGeom prst="ellipse">
            <a:avLst/>
          </a:prstGeom>
          <a:solidFill>
            <a:schemeClr val="accent3"/>
          </a:solidFill>
          <a:ln w="12700" cap="flat" cmpd="sng">
            <a:solidFill>
              <a:srgbClr val="A5A5A5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800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✓</a:t>
            </a:r>
            <a:endParaRPr sz="2800">
              <a:solidFill>
                <a:schemeClr val="lt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74" name="Google Shape;74;p2"/>
          <p:cNvSpPr txBox="1"/>
          <p:nvPr/>
        </p:nvSpPr>
        <p:spPr>
          <a:xfrm>
            <a:off x="1527893" y="720132"/>
            <a:ext cx="1175322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000" b="1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Looping</a:t>
            </a:r>
            <a:endParaRPr/>
          </a:p>
        </p:txBody>
      </p:sp>
      <p:cxnSp>
        <p:nvCxnSpPr>
          <p:cNvPr id="75" name="Google Shape;75;p2"/>
          <p:cNvCxnSpPr/>
          <p:nvPr/>
        </p:nvCxnSpPr>
        <p:spPr>
          <a:xfrm>
            <a:off x="1191446" y="1157468"/>
            <a:ext cx="0" cy="2465408"/>
          </a:xfrm>
          <a:prstGeom prst="straightConnector1">
            <a:avLst/>
          </a:prstGeom>
          <a:noFill/>
          <a:ln w="9525" cap="flat" cmpd="sng">
            <a:solidFill>
              <a:srgbClr val="A5A5A5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76" name="Google Shape;76;p2"/>
          <p:cNvSpPr txBox="1"/>
          <p:nvPr/>
        </p:nvSpPr>
        <p:spPr>
          <a:xfrm>
            <a:off x="1458962" y="731706"/>
            <a:ext cx="9718500" cy="461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 b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Outline</a:t>
            </a:r>
            <a:endParaRPr/>
          </a:p>
          <a:p>
            <a:pPr marL="800100" marR="0" lvl="1" indent="-342900" algn="l" rtl="0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400"/>
              <a:buFont typeface="Noto Sans Symbols"/>
              <a:buChar char="▪"/>
            </a:pPr>
            <a:r>
              <a:rPr lang="en-IN" sz="2400" b="0" i="0" u="none" strike="noStrike" cap="none">
                <a:solidFill>
                  <a:srgbClr val="7F7F7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What is Agility? </a:t>
            </a:r>
            <a:endParaRPr/>
          </a:p>
          <a:p>
            <a:pPr marL="800100" marR="0" lvl="1" indent="-342900" algn="l" rtl="0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400"/>
              <a:buFont typeface="Noto Sans Symbols"/>
              <a:buChar char="▪"/>
            </a:pPr>
            <a:r>
              <a:rPr lang="en-IN" sz="2400" b="0" i="0" u="none" strike="noStrike" cap="none">
                <a:solidFill>
                  <a:srgbClr val="7F7F7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Agile Process</a:t>
            </a:r>
            <a:endParaRPr/>
          </a:p>
          <a:p>
            <a:pPr marL="800100" marR="0" lvl="1" indent="-342900" algn="l" rtl="0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400"/>
              <a:buFont typeface="Noto Sans Symbols"/>
              <a:buChar char="▪"/>
            </a:pPr>
            <a:r>
              <a:rPr lang="en-IN" sz="2400" b="0" i="0" u="none" strike="noStrike" cap="none">
                <a:solidFill>
                  <a:srgbClr val="7F7F7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Agility Principles</a:t>
            </a:r>
            <a:endParaRPr/>
          </a:p>
          <a:p>
            <a:pPr marL="800100" marR="0" lvl="1" indent="-342900" algn="l" rtl="0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400"/>
              <a:buFont typeface="Noto Sans Symbols"/>
              <a:buChar char="▪"/>
            </a:pPr>
            <a:r>
              <a:rPr lang="en-IN" sz="2400" b="0" i="0" u="none" strike="noStrike" cap="none">
                <a:solidFill>
                  <a:srgbClr val="7F7F7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Where agile methodology not work?</a:t>
            </a:r>
            <a:endParaRPr/>
          </a:p>
          <a:p>
            <a:pPr marL="800100" marR="0" lvl="1" indent="-342900" algn="l" rtl="0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400"/>
              <a:buFont typeface="Noto Sans Symbols"/>
              <a:buChar char="▪"/>
            </a:pPr>
            <a:r>
              <a:rPr lang="en-IN" sz="2400" b="0" i="0" u="none" strike="noStrike" cap="none">
                <a:solidFill>
                  <a:srgbClr val="7F7F7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Agile Process Models</a:t>
            </a:r>
            <a:endParaRPr/>
          </a:p>
          <a:p>
            <a:pPr marL="1257300" marR="0" lvl="2" indent="-342900" algn="l" rtl="0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100"/>
              <a:buFont typeface="Arial"/>
              <a:buChar char="•"/>
            </a:pPr>
            <a:r>
              <a:rPr lang="en-IN" sz="2100" b="0" i="0" u="none" strike="noStrike" cap="none">
                <a:solidFill>
                  <a:srgbClr val="7F7F7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Extreme Programming (XP)</a:t>
            </a:r>
            <a:endParaRPr sz="2100">
              <a:solidFill>
                <a:srgbClr val="7F7F7F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1257300" marR="0" lvl="2" indent="-342900" algn="l" rtl="0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100"/>
              <a:buFont typeface="Arial"/>
              <a:buChar char="•"/>
            </a:pPr>
            <a:r>
              <a:rPr lang="en-IN" sz="2100">
                <a:solidFill>
                  <a:srgbClr val="7F7F7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Scrum</a:t>
            </a:r>
            <a:endParaRPr sz="2100">
              <a:solidFill>
                <a:srgbClr val="7F7F7F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1257300" marR="0" lvl="2" indent="-342900" algn="l" rtl="0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100"/>
              <a:buFont typeface="Arial"/>
              <a:buChar char="•"/>
            </a:pPr>
            <a:r>
              <a:rPr lang="en-IN" sz="2100" b="0" i="0" u="none" strike="noStrike" cap="none">
                <a:solidFill>
                  <a:srgbClr val="7F7F7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Adaptive Software Development (ASD)</a:t>
            </a:r>
            <a:endParaRPr/>
          </a:p>
          <a:p>
            <a:pPr marL="1257300" marR="0" lvl="2" indent="-342900" algn="l" rtl="0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100"/>
              <a:buFont typeface="Arial"/>
              <a:buChar char="•"/>
            </a:pPr>
            <a:r>
              <a:rPr lang="en-IN" sz="2100" b="0" i="0" u="none" strike="noStrike" cap="none">
                <a:solidFill>
                  <a:srgbClr val="7F7F7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Dynamic Systems Development Method (DSDM)</a:t>
            </a:r>
            <a:endParaRPr/>
          </a:p>
          <a:p>
            <a:pPr marL="1257300" marR="0" lvl="2" indent="-342900" algn="l" rtl="0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100"/>
              <a:buFont typeface="Arial"/>
              <a:buChar char="•"/>
            </a:pPr>
            <a:r>
              <a:rPr lang="en-IN" sz="2100" b="0" i="0" u="none" strike="noStrike" cap="none">
                <a:solidFill>
                  <a:srgbClr val="7F7F7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Feature Driven Development (FDD)</a:t>
            </a:r>
            <a:endParaRPr/>
          </a:p>
          <a:p>
            <a:pPr marL="1257300" marR="0" lvl="2" indent="-342900" algn="l" rtl="0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100"/>
              <a:buFont typeface="Arial"/>
              <a:buChar char="•"/>
            </a:pPr>
            <a:r>
              <a:rPr lang="en-IN" sz="2100" b="0" i="0" u="none" strike="noStrike" cap="none">
                <a:solidFill>
                  <a:srgbClr val="7F7F7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Agile Modelling (AM)</a:t>
            </a:r>
            <a:endParaRPr/>
          </a:p>
          <a:p>
            <a:pPr marL="1257300" marR="0" lvl="2" indent="-190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rgbClr val="7F7F7F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1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501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7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7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7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7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7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7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7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7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7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7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7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7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3"/>
          <p:cNvSpPr txBox="1"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prstGeom prst="rect">
            <a:avLst/>
          </a:prstGeom>
          <a:solidFill>
            <a:srgbClr val="C0C0C0">
              <a:alpha val="49803"/>
            </a:srgbClr>
          </a:solidFill>
          <a:ln>
            <a:noFill/>
          </a:ln>
        </p:spPr>
        <p:txBody>
          <a:bodyPr spcFirstLastPara="1" wrap="square" lIns="216000" tIns="108000" rIns="216000" bIns="1080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3400"/>
              <a:buFont typeface="Roboto Condensed"/>
              <a:buNone/>
            </a:pPr>
            <a:r>
              <a:rPr lang="en-IN"/>
              <a:t>Agility</a:t>
            </a:r>
            <a:endParaRPr/>
          </a:p>
        </p:txBody>
      </p:sp>
      <p:sp>
        <p:nvSpPr>
          <p:cNvPr id="82" name="Google Shape;82;p3"/>
          <p:cNvSpPr txBox="1">
            <a:spLocks noGrp="1"/>
          </p:cNvSpPr>
          <p:nvPr>
            <p:ph type="body" idx="1"/>
          </p:nvPr>
        </p:nvSpPr>
        <p:spPr>
          <a:xfrm>
            <a:off x="131175" y="2017300"/>
            <a:ext cx="11929500" cy="4436700"/>
          </a:xfrm>
          <a:prstGeom prst="rect">
            <a:avLst/>
          </a:prstGeom>
          <a:noFill/>
          <a:ln w="9525" cap="flat" cmpd="sng">
            <a:solidFill>
              <a:srgbClr val="BF232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65113" lvl="0" indent="-277813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600"/>
              <a:buFont typeface="Noto Sans Symbols"/>
              <a:buChar char="🞂"/>
            </a:pPr>
            <a:r>
              <a:rPr lang="en-IN" sz="2600">
                <a:latin typeface="Roboto Condensed"/>
                <a:ea typeface="Roboto Condensed"/>
                <a:cs typeface="Roboto Condensed"/>
                <a:sym typeface="Roboto Condensed"/>
              </a:rPr>
              <a:t>The ability to </a:t>
            </a:r>
            <a:r>
              <a:rPr lang="en-IN" sz="2600" b="1">
                <a:solidFill>
                  <a:srgbClr val="BF2323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create</a:t>
            </a:r>
            <a:r>
              <a:rPr lang="en-IN" sz="2600">
                <a:solidFill>
                  <a:srgbClr val="BF2323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IN" sz="2600">
                <a:latin typeface="Roboto Condensed"/>
                <a:ea typeface="Roboto Condensed"/>
                <a:cs typeface="Roboto Condensed"/>
                <a:sym typeface="Roboto Condensed"/>
              </a:rPr>
              <a:t>and </a:t>
            </a:r>
            <a:r>
              <a:rPr lang="en-IN" sz="2600" b="1">
                <a:solidFill>
                  <a:srgbClr val="BF2323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respond</a:t>
            </a:r>
            <a:r>
              <a:rPr lang="en-IN" sz="2600">
                <a:solidFill>
                  <a:srgbClr val="BF2323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IN" sz="2600" b="1">
                <a:solidFill>
                  <a:srgbClr val="BF2323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to</a:t>
            </a:r>
            <a:r>
              <a:rPr lang="en-IN" sz="2600">
                <a:solidFill>
                  <a:srgbClr val="BF2323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IN" sz="2600" b="1">
                <a:solidFill>
                  <a:srgbClr val="BF2323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change</a:t>
            </a:r>
            <a:r>
              <a:rPr lang="en-IN" sz="2600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IN" sz="2600">
                <a:latin typeface="Roboto Condensed"/>
                <a:ea typeface="Roboto Condensed"/>
                <a:cs typeface="Roboto Condensed"/>
                <a:sym typeface="Roboto Condensed"/>
              </a:rPr>
              <a:t>in order to profit in an unstable global business environment.</a:t>
            </a:r>
            <a:endParaRPr sz="2600"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265113" lvl="0" indent="-277813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600"/>
              <a:buFont typeface="Noto Sans Symbols"/>
              <a:buChar char="🞂"/>
            </a:pPr>
            <a:r>
              <a:rPr lang="en-IN" sz="2600">
                <a:latin typeface="Roboto Condensed"/>
                <a:ea typeface="Roboto Condensed"/>
                <a:cs typeface="Roboto Condensed"/>
                <a:sym typeface="Roboto Condensed"/>
              </a:rPr>
              <a:t>The ability to </a:t>
            </a:r>
            <a:r>
              <a:rPr lang="en-IN" sz="2600" b="1">
                <a:solidFill>
                  <a:srgbClr val="BF2323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quickly re-prioritize</a:t>
            </a:r>
            <a:r>
              <a:rPr lang="en-IN" sz="2600">
                <a:solidFill>
                  <a:srgbClr val="BF2323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IN" sz="2600" b="1">
                <a:solidFill>
                  <a:srgbClr val="BF2323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use of resources</a:t>
            </a:r>
            <a:r>
              <a:rPr lang="en-IN" sz="2600">
                <a:solidFill>
                  <a:srgbClr val="BF2323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IN" sz="2600">
                <a:latin typeface="Roboto Condensed"/>
                <a:ea typeface="Roboto Condensed"/>
                <a:cs typeface="Roboto Condensed"/>
                <a:sym typeface="Roboto Condensed"/>
              </a:rPr>
              <a:t>when requirements, technology, and knowledge shift.</a:t>
            </a:r>
            <a:endParaRPr sz="2600"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265113" lvl="0" indent="-277813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600"/>
              <a:buFont typeface="Noto Sans Symbols"/>
              <a:buChar char="🞂"/>
            </a:pPr>
            <a:r>
              <a:rPr lang="en-IN" sz="2600">
                <a:latin typeface="Roboto Condensed"/>
                <a:ea typeface="Roboto Condensed"/>
                <a:cs typeface="Roboto Condensed"/>
                <a:sym typeface="Roboto Condensed"/>
              </a:rPr>
              <a:t>A very </a:t>
            </a:r>
            <a:r>
              <a:rPr lang="en-IN" sz="2600" b="1">
                <a:solidFill>
                  <a:srgbClr val="BF2323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fast response to sudden</a:t>
            </a:r>
            <a:r>
              <a:rPr lang="en-IN" sz="2600">
                <a:latin typeface="Roboto Condensed"/>
                <a:ea typeface="Roboto Condensed"/>
                <a:cs typeface="Roboto Condensed"/>
                <a:sym typeface="Roboto Condensed"/>
              </a:rPr>
              <a:t> market </a:t>
            </a:r>
            <a:r>
              <a:rPr lang="en-IN" sz="2600" b="1">
                <a:solidFill>
                  <a:srgbClr val="BF2323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changes</a:t>
            </a:r>
            <a:r>
              <a:rPr lang="en-IN" sz="2600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IN" sz="2600">
                <a:latin typeface="Roboto Condensed"/>
                <a:ea typeface="Roboto Condensed"/>
                <a:cs typeface="Roboto Condensed"/>
                <a:sym typeface="Roboto Condensed"/>
              </a:rPr>
              <a:t>and emerging threats by intensive customer interaction.</a:t>
            </a:r>
            <a:endParaRPr sz="2600"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265113" lvl="0" indent="-277813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600"/>
              <a:buFont typeface="Noto Sans Symbols"/>
              <a:buChar char="🞂"/>
            </a:pPr>
            <a:r>
              <a:rPr lang="en-IN" sz="2600">
                <a:latin typeface="Roboto Condensed"/>
                <a:ea typeface="Roboto Condensed"/>
                <a:cs typeface="Roboto Condensed"/>
                <a:sym typeface="Roboto Condensed"/>
              </a:rPr>
              <a:t>Use of</a:t>
            </a:r>
            <a:r>
              <a:rPr lang="en-IN" sz="2600">
                <a:solidFill>
                  <a:srgbClr val="BF2323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IN" sz="2600" b="1">
                <a:solidFill>
                  <a:srgbClr val="BF2323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evolutionary, incremental,</a:t>
            </a:r>
            <a:r>
              <a:rPr lang="en-IN" sz="2600">
                <a:latin typeface="Roboto Condensed"/>
                <a:ea typeface="Roboto Condensed"/>
                <a:cs typeface="Roboto Condensed"/>
                <a:sym typeface="Roboto Condensed"/>
              </a:rPr>
              <a:t> and </a:t>
            </a:r>
            <a:r>
              <a:rPr lang="en-IN" sz="2600" b="1">
                <a:solidFill>
                  <a:srgbClr val="BF2323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iterative delivery</a:t>
            </a:r>
            <a:r>
              <a:rPr lang="en-IN" sz="2600">
                <a:latin typeface="Roboto Condensed"/>
                <a:ea typeface="Roboto Condensed"/>
                <a:cs typeface="Roboto Condensed"/>
                <a:sym typeface="Roboto Condensed"/>
              </a:rPr>
              <a:t> to converge on an optimal customer solution.</a:t>
            </a:r>
            <a:endParaRPr sz="2600"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265113" lvl="0" indent="-277813" algn="just" rtl="0">
              <a:lnSpc>
                <a:spcPct val="90000"/>
              </a:lnSpc>
              <a:spcBef>
                <a:spcPts val="1000"/>
              </a:spcBef>
              <a:spcAft>
                <a:spcPts val="1600"/>
              </a:spcAft>
              <a:buClr>
                <a:schemeClr val="accent6"/>
              </a:buClr>
              <a:buSzPts val="2600"/>
              <a:buFont typeface="Noto Sans Symbols"/>
              <a:buChar char="🞂"/>
            </a:pPr>
            <a:r>
              <a:rPr lang="en-IN" sz="2600">
                <a:latin typeface="Roboto Condensed"/>
                <a:ea typeface="Roboto Condensed"/>
                <a:cs typeface="Roboto Condensed"/>
                <a:sym typeface="Roboto Condensed"/>
              </a:rPr>
              <a:t>Maximizing </a:t>
            </a:r>
            <a:r>
              <a:rPr lang="en-IN" sz="2600" b="1">
                <a:latin typeface="Roboto Condensed"/>
                <a:ea typeface="Roboto Condensed"/>
                <a:cs typeface="Roboto Condensed"/>
                <a:sym typeface="Roboto Condensed"/>
              </a:rPr>
              <a:t>BUSINESS VALUE </a:t>
            </a:r>
            <a:r>
              <a:rPr lang="en-IN" sz="2600">
                <a:latin typeface="Roboto Condensed"/>
                <a:ea typeface="Roboto Condensed"/>
                <a:cs typeface="Roboto Condensed"/>
                <a:sym typeface="Roboto Condensed"/>
              </a:rPr>
              <a:t>with</a:t>
            </a:r>
            <a:r>
              <a:rPr lang="en-IN" sz="2600">
                <a:solidFill>
                  <a:srgbClr val="BF2323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IN" sz="2600" b="1">
                <a:solidFill>
                  <a:srgbClr val="BF2323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right sized</a:t>
            </a:r>
            <a:r>
              <a:rPr lang="en-IN" sz="2600">
                <a:solidFill>
                  <a:srgbClr val="BF2323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, </a:t>
            </a:r>
            <a:r>
              <a:rPr lang="en-IN" sz="2600" b="1">
                <a:solidFill>
                  <a:srgbClr val="BF2323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just- enough</a:t>
            </a:r>
            <a:r>
              <a:rPr lang="en-IN" sz="2600">
                <a:solidFill>
                  <a:srgbClr val="BF2323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,</a:t>
            </a:r>
            <a:r>
              <a:rPr lang="en-IN" sz="2600">
                <a:latin typeface="Roboto Condensed"/>
                <a:ea typeface="Roboto Condensed"/>
                <a:cs typeface="Roboto Condensed"/>
                <a:sym typeface="Roboto Condensed"/>
              </a:rPr>
              <a:t> and </a:t>
            </a:r>
            <a:r>
              <a:rPr lang="en-IN" sz="2600" b="1">
                <a:solidFill>
                  <a:srgbClr val="BF2323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just-in-time processes</a:t>
            </a:r>
            <a:r>
              <a:rPr lang="en-IN" sz="2600">
                <a:solidFill>
                  <a:srgbClr val="BF2323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IN" sz="2600">
                <a:latin typeface="Roboto Condensed"/>
                <a:ea typeface="Roboto Condensed"/>
                <a:cs typeface="Roboto Condensed"/>
                <a:sym typeface="Roboto Condensed"/>
              </a:rPr>
              <a:t>and </a:t>
            </a:r>
            <a:r>
              <a:rPr lang="en-IN" sz="2600" b="1">
                <a:solidFill>
                  <a:srgbClr val="BF2323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documentation</a:t>
            </a:r>
            <a:r>
              <a:rPr lang="en-IN" sz="2600">
                <a:solidFill>
                  <a:srgbClr val="BF2323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.</a:t>
            </a:r>
            <a:endParaRPr sz="2600">
              <a:solidFill>
                <a:srgbClr val="BF2323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83" name="Google Shape;83;p3"/>
          <p:cNvSpPr/>
          <p:nvPr/>
        </p:nvSpPr>
        <p:spPr>
          <a:xfrm>
            <a:off x="7924446" y="341869"/>
            <a:ext cx="414408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Agility is </a:t>
            </a:r>
            <a:r>
              <a:rPr lang="en-IN" sz="1800" b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ability to move quickly and easily</a:t>
            </a:r>
            <a:r>
              <a:rPr lang="en-IN" sz="18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.</a:t>
            </a:r>
            <a:endParaRPr/>
          </a:p>
        </p:txBody>
      </p:sp>
      <p:sp>
        <p:nvSpPr>
          <p:cNvPr id="84" name="Google Shape;84;p3"/>
          <p:cNvSpPr/>
          <p:nvPr/>
        </p:nvSpPr>
        <p:spPr>
          <a:xfrm>
            <a:off x="328613" y="1021353"/>
            <a:ext cx="11501400" cy="685800"/>
          </a:xfrm>
          <a:prstGeom prst="wedgeRoundRectCallout">
            <a:avLst>
              <a:gd name="adj1" fmla="val -41423"/>
              <a:gd name="adj2" fmla="val -132233"/>
              <a:gd name="adj3" fmla="val 16667"/>
            </a:avLst>
          </a:prstGeom>
          <a:solidFill>
            <a:schemeClr val="lt1"/>
          </a:solidFill>
          <a:ln w="12700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8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It is an ability of </a:t>
            </a:r>
            <a:r>
              <a:rPr lang="en-IN" sz="2800" b="1">
                <a:solidFill>
                  <a:schemeClr val="accent4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quickness</a:t>
            </a:r>
            <a:r>
              <a:rPr lang="en-IN" sz="2800">
                <a:solidFill>
                  <a:schemeClr val="accent4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, </a:t>
            </a:r>
            <a:r>
              <a:rPr lang="en-IN" sz="2800" b="1">
                <a:solidFill>
                  <a:schemeClr val="accent4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lightness</a:t>
            </a:r>
            <a:r>
              <a:rPr lang="en-IN" sz="2800">
                <a:solidFill>
                  <a:schemeClr val="accent4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,</a:t>
            </a:r>
            <a:r>
              <a:rPr lang="en-IN" sz="28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&amp; </a:t>
            </a:r>
            <a:r>
              <a:rPr lang="en-IN" sz="2800" b="1">
                <a:solidFill>
                  <a:srgbClr val="BF2323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ease of movement</a:t>
            </a:r>
            <a:r>
              <a:rPr lang="en-IN" sz="28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.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4"/>
          <p:cNvSpPr txBox="1"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prstGeom prst="rect">
            <a:avLst/>
          </a:prstGeom>
          <a:solidFill>
            <a:srgbClr val="C0C0C0">
              <a:alpha val="49803"/>
            </a:srgbClr>
          </a:solidFill>
          <a:ln>
            <a:noFill/>
          </a:ln>
        </p:spPr>
        <p:txBody>
          <a:bodyPr spcFirstLastPara="1" wrap="square" lIns="216000" tIns="108000" rIns="216000" bIns="1080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3400"/>
              <a:buFont typeface="Roboto Condensed"/>
              <a:buNone/>
            </a:pPr>
            <a:r>
              <a:rPr lang="en-IN"/>
              <a:t>What is Agility? Cont.</a:t>
            </a:r>
            <a:endParaRPr/>
          </a:p>
        </p:txBody>
      </p:sp>
      <p:sp>
        <p:nvSpPr>
          <p:cNvPr id="90" name="Google Shape;90;p4"/>
          <p:cNvSpPr/>
          <p:nvPr/>
        </p:nvSpPr>
        <p:spPr>
          <a:xfrm>
            <a:off x="77912" y="817841"/>
            <a:ext cx="3036759" cy="178197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grpSp>
        <p:nvGrpSpPr>
          <p:cNvPr id="91" name="Google Shape;91;p4"/>
          <p:cNvGrpSpPr/>
          <p:nvPr/>
        </p:nvGrpSpPr>
        <p:grpSpPr>
          <a:xfrm>
            <a:off x="87927" y="801677"/>
            <a:ext cx="3026744" cy="1798134"/>
            <a:chOff x="342889" y="1579518"/>
            <a:chExt cx="8240413" cy="4895478"/>
          </a:xfrm>
        </p:grpSpPr>
        <p:pic>
          <p:nvPicPr>
            <p:cNvPr id="92" name="Google Shape;92;p4" descr="Image result for effective communication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342889" y="1641231"/>
              <a:ext cx="8240413" cy="483376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3" name="Google Shape;93;p4"/>
            <p:cNvSpPr txBox="1"/>
            <p:nvPr/>
          </p:nvSpPr>
          <p:spPr>
            <a:xfrm>
              <a:off x="353704" y="1579518"/>
              <a:ext cx="6172201" cy="85258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1800" b="1">
                  <a:solidFill>
                    <a:schemeClr val="lt1"/>
                  </a:solidFill>
                  <a:latin typeface="Roboto Condensed"/>
                  <a:ea typeface="Roboto Condensed"/>
                  <a:cs typeface="Roboto Condensed"/>
                  <a:sym typeface="Roboto Condensed"/>
                </a:rPr>
                <a:t>Current Functionality</a:t>
              </a:r>
              <a:endParaRPr/>
            </a:p>
          </p:txBody>
        </p:sp>
        <p:sp>
          <p:nvSpPr>
            <p:cNvPr id="94" name="Google Shape;94;p4"/>
            <p:cNvSpPr txBox="1"/>
            <p:nvPr/>
          </p:nvSpPr>
          <p:spPr>
            <a:xfrm>
              <a:off x="3117312" y="5325070"/>
              <a:ext cx="5143501" cy="85258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1800" b="1">
                  <a:solidFill>
                    <a:schemeClr val="lt1"/>
                  </a:solidFill>
                  <a:latin typeface="Roboto Condensed"/>
                  <a:ea typeface="Roboto Condensed"/>
                  <a:cs typeface="Roboto Condensed"/>
                  <a:sym typeface="Roboto Condensed"/>
                </a:rPr>
                <a:t>Change Request</a:t>
              </a:r>
              <a:endParaRPr/>
            </a:p>
          </p:txBody>
        </p:sp>
      </p:grpSp>
      <p:sp>
        <p:nvSpPr>
          <p:cNvPr id="95" name="Google Shape;95;p4"/>
          <p:cNvSpPr/>
          <p:nvPr/>
        </p:nvSpPr>
        <p:spPr>
          <a:xfrm>
            <a:off x="4963678" y="842952"/>
            <a:ext cx="2422958" cy="1927298"/>
          </a:xfrm>
          <a:prstGeom prst="rect">
            <a:avLst/>
          </a:prstGeom>
          <a:solidFill>
            <a:srgbClr val="BFBFBF"/>
          </a:solidFill>
          <a:ln w="127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96" name="Google Shape;96;p4"/>
          <p:cNvSpPr/>
          <p:nvPr/>
        </p:nvSpPr>
        <p:spPr>
          <a:xfrm>
            <a:off x="87927" y="2684522"/>
            <a:ext cx="1969469" cy="1930318"/>
          </a:xfrm>
          <a:prstGeom prst="rect">
            <a:avLst/>
          </a:prstGeom>
          <a:solidFill>
            <a:srgbClr val="E8E8E8"/>
          </a:solidFill>
          <a:ln w="127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97" name="Google Shape;97;p4"/>
          <p:cNvSpPr/>
          <p:nvPr/>
        </p:nvSpPr>
        <p:spPr>
          <a:xfrm>
            <a:off x="3110398" y="817841"/>
            <a:ext cx="1724605" cy="178197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98" name="Google Shape;98;p4"/>
          <p:cNvSpPr/>
          <p:nvPr/>
        </p:nvSpPr>
        <p:spPr>
          <a:xfrm>
            <a:off x="3279351" y="1107460"/>
            <a:ext cx="1385315" cy="12003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Effective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response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to change</a:t>
            </a:r>
            <a:endParaRPr/>
          </a:p>
        </p:txBody>
      </p:sp>
      <p:sp>
        <p:nvSpPr>
          <p:cNvPr id="99" name="Google Shape;99;p4"/>
          <p:cNvSpPr/>
          <p:nvPr/>
        </p:nvSpPr>
        <p:spPr>
          <a:xfrm>
            <a:off x="4963679" y="2770250"/>
            <a:ext cx="2422958" cy="184459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100" name="Google Shape;100;p4"/>
          <p:cNvSpPr/>
          <p:nvPr/>
        </p:nvSpPr>
        <p:spPr>
          <a:xfrm>
            <a:off x="5123703" y="2871902"/>
            <a:ext cx="2137124" cy="1569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Effective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communication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among all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stakeholders</a:t>
            </a:r>
            <a:endParaRPr/>
          </a:p>
        </p:txBody>
      </p:sp>
      <p:pic>
        <p:nvPicPr>
          <p:cNvPr id="101" name="Google Shape;101;p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405432" y="958089"/>
            <a:ext cx="1698874" cy="1698874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4"/>
          <p:cNvSpPr/>
          <p:nvPr/>
        </p:nvSpPr>
        <p:spPr>
          <a:xfrm>
            <a:off x="2057396" y="2684523"/>
            <a:ext cx="2777607" cy="1930318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103" name="Google Shape;103;p4"/>
          <p:cNvSpPr/>
          <p:nvPr/>
        </p:nvSpPr>
        <p:spPr>
          <a:xfrm>
            <a:off x="2188936" y="2850504"/>
            <a:ext cx="2459376" cy="1569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Organizing a team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so that it is in control to perform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the work</a:t>
            </a:r>
            <a:endParaRPr/>
          </a:p>
        </p:txBody>
      </p:sp>
      <p:pic>
        <p:nvPicPr>
          <p:cNvPr id="104" name="Google Shape;104;p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24488" y="2779064"/>
            <a:ext cx="1675748" cy="1675748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4"/>
          <p:cNvSpPr/>
          <p:nvPr/>
        </p:nvSpPr>
        <p:spPr>
          <a:xfrm>
            <a:off x="94274" y="4725060"/>
            <a:ext cx="2814179" cy="1718283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grpSp>
        <p:nvGrpSpPr>
          <p:cNvPr id="106" name="Google Shape;106;p4"/>
          <p:cNvGrpSpPr/>
          <p:nvPr/>
        </p:nvGrpSpPr>
        <p:grpSpPr>
          <a:xfrm>
            <a:off x="751859" y="4741484"/>
            <a:ext cx="2220974" cy="1701859"/>
            <a:chOff x="1957151" y="2266238"/>
            <a:chExt cx="5662546" cy="4339021"/>
          </a:xfrm>
        </p:grpSpPr>
        <p:pic>
          <p:nvPicPr>
            <p:cNvPr id="107" name="Google Shape;107;p4" descr="Image result for customer in team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1957151" y="2266238"/>
              <a:ext cx="5662546" cy="433902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8" name="Google Shape;108;p4"/>
            <p:cNvSpPr txBox="1"/>
            <p:nvPr/>
          </p:nvSpPr>
          <p:spPr>
            <a:xfrm>
              <a:off x="2817603" y="5812961"/>
              <a:ext cx="3814128" cy="77412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1800" b="1">
                  <a:solidFill>
                    <a:srgbClr val="C00000"/>
                  </a:solidFill>
                  <a:latin typeface="Roboto Condensed"/>
                  <a:ea typeface="Roboto Condensed"/>
                  <a:cs typeface="Roboto Condensed"/>
                  <a:sym typeface="Roboto Condensed"/>
                </a:rPr>
                <a:t>Customer</a:t>
              </a:r>
              <a:endParaRPr/>
            </a:p>
          </p:txBody>
        </p:sp>
      </p:grpSp>
      <p:sp>
        <p:nvSpPr>
          <p:cNvPr id="109" name="Google Shape;109;p4"/>
          <p:cNvSpPr/>
          <p:nvPr/>
        </p:nvSpPr>
        <p:spPr>
          <a:xfrm>
            <a:off x="2908454" y="4725060"/>
            <a:ext cx="4478182" cy="1718283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110" name="Google Shape;110;p4"/>
          <p:cNvSpPr/>
          <p:nvPr/>
        </p:nvSpPr>
        <p:spPr>
          <a:xfrm>
            <a:off x="3050111" y="5010554"/>
            <a:ext cx="2081467" cy="12003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Drawing the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customer onto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the team</a:t>
            </a:r>
            <a:endParaRPr sz="24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111" name="Google Shape;111;p4"/>
          <p:cNvSpPr/>
          <p:nvPr/>
        </p:nvSpPr>
        <p:spPr>
          <a:xfrm>
            <a:off x="5208856" y="5010554"/>
            <a:ext cx="2038997" cy="12003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Eliminate the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“us and them”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attitude</a:t>
            </a:r>
            <a:endParaRPr sz="24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112" name="Google Shape;112;p4"/>
          <p:cNvSpPr txBox="1"/>
          <p:nvPr/>
        </p:nvSpPr>
        <p:spPr>
          <a:xfrm rot="-5400000">
            <a:off x="-686884" y="5241387"/>
            <a:ext cx="2192952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b="1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Development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b="1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Team</a:t>
            </a:r>
            <a:endParaRPr/>
          </a:p>
        </p:txBody>
      </p:sp>
      <p:cxnSp>
        <p:nvCxnSpPr>
          <p:cNvPr id="113" name="Google Shape;113;p4"/>
          <p:cNvCxnSpPr/>
          <p:nvPr/>
        </p:nvCxnSpPr>
        <p:spPr>
          <a:xfrm>
            <a:off x="5120280" y="4914900"/>
            <a:ext cx="0" cy="1341407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14" name="Google Shape;114;p4"/>
          <p:cNvSpPr/>
          <p:nvPr/>
        </p:nvSpPr>
        <p:spPr>
          <a:xfrm>
            <a:off x="7497847" y="846992"/>
            <a:ext cx="4592553" cy="4811947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69696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115" name="Google Shape;115;p4"/>
          <p:cNvSpPr/>
          <p:nvPr/>
        </p:nvSpPr>
        <p:spPr>
          <a:xfrm>
            <a:off x="7497846" y="1388632"/>
            <a:ext cx="4592554" cy="4270307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116" name="Google Shape;116;p4"/>
          <p:cNvSpPr/>
          <p:nvPr/>
        </p:nvSpPr>
        <p:spPr>
          <a:xfrm>
            <a:off x="7574047" y="936255"/>
            <a:ext cx="4490953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000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Rapid and Incremental delivery of software</a:t>
            </a:r>
            <a:endParaRPr sz="2000">
              <a:solidFill>
                <a:schemeClr val="lt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pic>
        <p:nvPicPr>
          <p:cNvPr id="117" name="Google Shape;117;p4"/>
          <p:cNvPicPr preferRelativeResize="0"/>
          <p:nvPr/>
        </p:nvPicPr>
        <p:blipFill rotWithShape="1">
          <a:blip r:embed="rId7">
            <a:alphaModFix/>
          </a:blip>
          <a:srcRect r="1411"/>
          <a:stretch/>
        </p:blipFill>
        <p:spPr>
          <a:xfrm>
            <a:off x="7571460" y="1669737"/>
            <a:ext cx="4429970" cy="1299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4"/>
          <p:cNvPicPr preferRelativeResize="0"/>
          <p:nvPr/>
        </p:nvPicPr>
        <p:blipFill rotWithShape="1">
          <a:blip r:embed="rId8">
            <a:alphaModFix/>
          </a:blip>
          <a:srcRect r="1666"/>
          <a:stretch/>
        </p:blipFill>
        <p:spPr>
          <a:xfrm>
            <a:off x="7696439" y="3851780"/>
            <a:ext cx="4265078" cy="141161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19" name="Google Shape;119;p4"/>
          <p:cNvCxnSpPr/>
          <p:nvPr/>
        </p:nvCxnSpPr>
        <p:spPr>
          <a:xfrm>
            <a:off x="7637546" y="3441785"/>
            <a:ext cx="4351184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5"/>
          <p:cNvSpPr txBox="1"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prstGeom prst="rect">
            <a:avLst/>
          </a:prstGeom>
          <a:solidFill>
            <a:srgbClr val="C0C0C0">
              <a:alpha val="49803"/>
            </a:srgbClr>
          </a:solidFill>
          <a:ln>
            <a:noFill/>
          </a:ln>
        </p:spPr>
        <p:txBody>
          <a:bodyPr spcFirstLastPara="1" wrap="square" lIns="216000" tIns="108000" rIns="216000" bIns="1080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3400"/>
              <a:buFont typeface="Roboto Condensed"/>
              <a:buNone/>
            </a:pPr>
            <a:r>
              <a:rPr lang="en-IN"/>
              <a:t>Agile Process</a:t>
            </a:r>
            <a:endParaRPr/>
          </a:p>
        </p:txBody>
      </p:sp>
      <p:sp>
        <p:nvSpPr>
          <p:cNvPr id="125" name="Google Shape;125;p5"/>
          <p:cNvSpPr txBox="1">
            <a:spLocks noGrp="1"/>
          </p:cNvSpPr>
          <p:nvPr>
            <p:ph type="body" idx="1"/>
          </p:nvPr>
        </p:nvSpPr>
        <p:spPr>
          <a:xfrm>
            <a:off x="131180" y="863444"/>
            <a:ext cx="11929500" cy="55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65113" lvl="0" indent="-265113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Noto Sans Symbols"/>
              <a:buChar char="🞂"/>
            </a:pPr>
            <a:r>
              <a:rPr lang="en-IN"/>
              <a:t>Agile software process addresses </a:t>
            </a:r>
            <a:r>
              <a:rPr lang="en-IN" b="1"/>
              <a:t>few assumptions</a:t>
            </a:r>
            <a:endParaRPr/>
          </a:p>
          <a:p>
            <a:pPr marL="265113" lvl="0" indent="-112713" algn="just" rtl="0">
              <a:lnSpc>
                <a:spcPct val="90000"/>
              </a:lnSpc>
              <a:spcBef>
                <a:spcPts val="1000"/>
              </a:spcBef>
              <a:spcAft>
                <a:spcPts val="1600"/>
              </a:spcAft>
              <a:buClr>
                <a:schemeClr val="accent6"/>
              </a:buClr>
              <a:buSzPts val="2400"/>
              <a:buFont typeface="Noto Sans Symbols"/>
              <a:buNone/>
            </a:pPr>
            <a:endParaRPr/>
          </a:p>
        </p:txBody>
      </p:sp>
      <p:sp>
        <p:nvSpPr>
          <p:cNvPr id="126" name="Google Shape;126;p5"/>
          <p:cNvSpPr txBox="1"/>
          <p:nvPr/>
        </p:nvSpPr>
        <p:spPr>
          <a:xfrm>
            <a:off x="190499" y="3701975"/>
            <a:ext cx="11748951" cy="4570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65113" marR="0" lvl="0" indent="-265113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Noto Sans Symbols"/>
              <a:buChar char="🞂"/>
            </a:pPr>
            <a:r>
              <a:rPr lang="en-IN"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An agile </a:t>
            </a:r>
            <a:r>
              <a:rPr lang="en-IN" sz="2400" b="1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process</a:t>
            </a:r>
            <a:r>
              <a:rPr lang="en-IN" sz="2400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IN"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must </a:t>
            </a:r>
            <a:r>
              <a:rPr lang="en-IN" sz="2400" b="1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adapt </a:t>
            </a:r>
            <a:r>
              <a:rPr lang="en-IN"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incrementally.</a:t>
            </a:r>
            <a:endParaRPr sz="24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127" name="Google Shape;127;p5"/>
          <p:cNvSpPr txBox="1"/>
          <p:nvPr/>
        </p:nvSpPr>
        <p:spPr>
          <a:xfrm>
            <a:off x="190498" y="4308622"/>
            <a:ext cx="11748951" cy="930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65113" marR="0" lvl="0" indent="-265113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Noto Sans Symbols"/>
              <a:buChar char="🞂"/>
            </a:pPr>
            <a:r>
              <a:rPr lang="en-IN"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To accomplish incremental adaptation, an agile team </a:t>
            </a:r>
            <a:r>
              <a:rPr lang="en-IN" sz="2400" b="1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requires customer feedback</a:t>
            </a:r>
            <a:r>
              <a:rPr lang="en-IN"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(so that the appropriate adaptations can be made).</a:t>
            </a:r>
            <a:endParaRPr sz="24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128" name="Google Shape;128;p5"/>
          <p:cNvSpPr/>
          <p:nvPr/>
        </p:nvSpPr>
        <p:spPr>
          <a:xfrm>
            <a:off x="569050" y="2805346"/>
            <a:ext cx="11160988" cy="461665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 b="1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Analysis</a:t>
            </a:r>
            <a:r>
              <a:rPr lang="en-IN" sz="2400" b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,</a:t>
            </a:r>
            <a:r>
              <a:rPr lang="en-IN" sz="2400" b="1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IN" sz="2400" b="1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design</a:t>
            </a:r>
            <a:r>
              <a:rPr lang="en-IN" sz="2400" b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,</a:t>
            </a:r>
            <a:r>
              <a:rPr lang="en-IN" sz="2400" b="1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IN" sz="2400" b="1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construction</a:t>
            </a:r>
            <a:r>
              <a:rPr lang="en-IN" sz="2400" b="1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IN"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and </a:t>
            </a:r>
            <a:r>
              <a:rPr lang="en-IN" sz="2400" b="1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testing</a:t>
            </a:r>
            <a:r>
              <a:rPr lang="en-IN" sz="2400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IN"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are </a:t>
            </a:r>
            <a:r>
              <a:rPr lang="en-IN" sz="2400" b="1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not</a:t>
            </a:r>
            <a:r>
              <a:rPr lang="en-IN" sz="2400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IN"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as </a:t>
            </a:r>
            <a:r>
              <a:rPr lang="en-IN" sz="2400" b="1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predictable</a:t>
            </a:r>
            <a:r>
              <a:rPr lang="en-IN" sz="2400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IN"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as we might like.</a:t>
            </a:r>
            <a:endParaRPr/>
          </a:p>
        </p:txBody>
      </p:sp>
      <p:sp>
        <p:nvSpPr>
          <p:cNvPr id="129" name="Google Shape;129;p5"/>
          <p:cNvSpPr/>
          <p:nvPr/>
        </p:nvSpPr>
        <p:spPr>
          <a:xfrm>
            <a:off x="569050" y="1464447"/>
            <a:ext cx="11160988" cy="461665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 b="1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Difficulty in predicting changes</a:t>
            </a:r>
            <a:r>
              <a:rPr lang="en-IN"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of requirements and customer priorities.</a:t>
            </a:r>
            <a:endParaRPr/>
          </a:p>
        </p:txBody>
      </p:sp>
      <p:sp>
        <p:nvSpPr>
          <p:cNvPr id="130" name="Google Shape;130;p5"/>
          <p:cNvSpPr/>
          <p:nvPr/>
        </p:nvSpPr>
        <p:spPr>
          <a:xfrm>
            <a:off x="569050" y="2129860"/>
            <a:ext cx="11160988" cy="461665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For many types of software; </a:t>
            </a:r>
            <a:r>
              <a:rPr lang="en-IN" sz="2400" b="1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design</a:t>
            </a:r>
            <a:r>
              <a:rPr lang="en-IN" sz="2400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IN"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and </a:t>
            </a:r>
            <a:r>
              <a:rPr lang="en-IN" sz="2400" b="1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construction</a:t>
            </a:r>
            <a:r>
              <a:rPr lang="en-IN" sz="2400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IN"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are </a:t>
            </a:r>
            <a:r>
              <a:rPr lang="en-IN" sz="2400" b="1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interleaved</a:t>
            </a:r>
            <a:r>
              <a:rPr lang="en-IN" sz="2400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IN"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(mixed).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" name="Google Shape;135;p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78992" y="2691992"/>
            <a:ext cx="1740105" cy="1550010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6"/>
          <p:cNvSpPr txBox="1"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prstGeom prst="rect">
            <a:avLst/>
          </a:prstGeom>
          <a:solidFill>
            <a:srgbClr val="C0C0C0">
              <a:alpha val="49803"/>
            </a:srgbClr>
          </a:solidFill>
          <a:ln>
            <a:noFill/>
          </a:ln>
        </p:spPr>
        <p:txBody>
          <a:bodyPr spcFirstLastPara="1" wrap="square" lIns="216000" tIns="108000" rIns="216000" bIns="1080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3400"/>
              <a:buFont typeface="Roboto Condensed"/>
              <a:buNone/>
            </a:pPr>
            <a:r>
              <a:rPr lang="en-IN"/>
              <a:t>Agility Principles</a:t>
            </a:r>
            <a:endParaRPr/>
          </a:p>
        </p:txBody>
      </p:sp>
      <p:sp>
        <p:nvSpPr>
          <p:cNvPr id="137" name="Google Shape;137;p6"/>
          <p:cNvSpPr txBox="1">
            <a:spLocks noGrp="1"/>
          </p:cNvSpPr>
          <p:nvPr>
            <p:ph type="body" idx="1"/>
          </p:nvPr>
        </p:nvSpPr>
        <p:spPr>
          <a:xfrm>
            <a:off x="131180" y="863444"/>
            <a:ext cx="11929500" cy="55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65113" lvl="0" indent="-277813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600"/>
              <a:buFont typeface="Noto Sans Symbols"/>
              <a:buChar char="🞂"/>
            </a:pPr>
            <a:r>
              <a:rPr lang="en-IN" sz="2600" b="1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Highest priority </a:t>
            </a:r>
            <a:r>
              <a:rPr lang="en-IN" sz="2600">
                <a:latin typeface="Roboto Condensed"/>
                <a:ea typeface="Roboto Condensed"/>
                <a:cs typeface="Roboto Condensed"/>
                <a:sym typeface="Roboto Condensed"/>
              </a:rPr>
              <a:t>is to </a:t>
            </a:r>
            <a:r>
              <a:rPr lang="en-IN" sz="2600" b="1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satisfy</a:t>
            </a:r>
            <a:r>
              <a:rPr lang="en-IN" sz="2600">
                <a:latin typeface="Roboto Condensed"/>
                <a:ea typeface="Roboto Condensed"/>
                <a:cs typeface="Roboto Condensed"/>
                <a:sym typeface="Roboto Condensed"/>
              </a:rPr>
              <a:t> the </a:t>
            </a:r>
            <a:r>
              <a:rPr lang="en-IN" sz="2600" b="1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customer</a:t>
            </a:r>
            <a:r>
              <a:rPr lang="en-IN" sz="2600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IN" sz="2600">
                <a:latin typeface="Roboto Condensed"/>
                <a:ea typeface="Roboto Condensed"/>
                <a:cs typeface="Roboto Condensed"/>
                <a:sym typeface="Roboto Condensed"/>
              </a:rPr>
              <a:t>through early &amp; </a:t>
            </a:r>
            <a:r>
              <a:rPr lang="en-IN" sz="2600" b="1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continuous</a:t>
            </a:r>
            <a:r>
              <a:rPr lang="en-IN" sz="2600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IN" sz="2600" b="1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delivery</a:t>
            </a:r>
            <a:r>
              <a:rPr lang="en-IN" sz="2600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IN" sz="2600">
                <a:latin typeface="Roboto Condensed"/>
                <a:ea typeface="Roboto Condensed"/>
                <a:cs typeface="Roboto Condensed"/>
                <a:sym typeface="Roboto Condensed"/>
              </a:rPr>
              <a:t>of </a:t>
            </a:r>
            <a:r>
              <a:rPr lang="en-IN" sz="2600" b="1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software</a:t>
            </a:r>
            <a:endParaRPr sz="2600"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265113" lvl="0" indent="-277813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600"/>
              <a:buFont typeface="Noto Sans Symbols"/>
              <a:buChar char="🞂"/>
            </a:pPr>
            <a:r>
              <a:rPr lang="en-IN" sz="2600" b="1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Welcome changing</a:t>
            </a:r>
            <a:r>
              <a:rPr lang="en-IN" sz="2600">
                <a:latin typeface="Roboto Condensed"/>
                <a:ea typeface="Roboto Condensed"/>
                <a:cs typeface="Roboto Condensed"/>
                <a:sym typeface="Roboto Condensed"/>
              </a:rPr>
              <a:t> requirements</a:t>
            </a:r>
            <a:endParaRPr sz="2600"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265113" lvl="0" indent="-277813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600"/>
              <a:buFont typeface="Noto Sans Symbols"/>
              <a:buChar char="🞂"/>
            </a:pPr>
            <a:r>
              <a:rPr lang="en-IN" sz="2600" b="1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Deliver</a:t>
            </a:r>
            <a:r>
              <a:rPr lang="en-IN" sz="2600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IN" sz="2600">
                <a:latin typeface="Roboto Condensed"/>
                <a:ea typeface="Roboto Condensed"/>
                <a:cs typeface="Roboto Condensed"/>
                <a:sym typeface="Roboto Condensed"/>
              </a:rPr>
              <a:t>working </a:t>
            </a:r>
            <a:r>
              <a:rPr lang="en-IN" sz="2600" b="1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software</a:t>
            </a:r>
            <a:r>
              <a:rPr lang="en-IN" sz="2600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IN" sz="2600" b="1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frequently</a:t>
            </a:r>
            <a:endParaRPr sz="2600"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265113" lvl="0" indent="-277813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600"/>
              <a:buFont typeface="Noto Sans Symbols"/>
              <a:buChar char="🞂"/>
            </a:pPr>
            <a:r>
              <a:rPr lang="en-IN" sz="2600" b="1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Businesspeople</a:t>
            </a:r>
            <a:r>
              <a:rPr lang="en-IN" sz="2600">
                <a:latin typeface="Roboto Condensed"/>
                <a:ea typeface="Roboto Condensed"/>
                <a:cs typeface="Roboto Condensed"/>
                <a:sym typeface="Roboto Condensed"/>
              </a:rPr>
              <a:t> and </a:t>
            </a:r>
            <a:r>
              <a:rPr lang="en-IN" sz="2600" b="1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developers</a:t>
            </a:r>
            <a:r>
              <a:rPr lang="en-IN" sz="2600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IN" sz="2600">
                <a:latin typeface="Roboto Condensed"/>
                <a:ea typeface="Roboto Condensed"/>
                <a:cs typeface="Roboto Condensed"/>
                <a:sym typeface="Roboto Condensed"/>
              </a:rPr>
              <a:t>must </a:t>
            </a:r>
            <a:r>
              <a:rPr lang="en-IN" sz="2600" b="1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work together</a:t>
            </a:r>
            <a:endParaRPr sz="2600"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265113" lvl="0" indent="-277813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600"/>
              <a:buFont typeface="Noto Sans Symbols"/>
              <a:buChar char="🞂"/>
            </a:pPr>
            <a:r>
              <a:rPr lang="en-IN" sz="2600" b="1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Build</a:t>
            </a:r>
            <a:r>
              <a:rPr lang="en-IN" sz="2600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IN" sz="2600">
                <a:latin typeface="Roboto Condensed"/>
                <a:ea typeface="Roboto Condensed"/>
                <a:cs typeface="Roboto Condensed"/>
                <a:sym typeface="Roboto Condensed"/>
              </a:rPr>
              <a:t>projects </a:t>
            </a:r>
            <a:r>
              <a:rPr lang="en-IN" sz="2600" b="1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around motivated</a:t>
            </a:r>
            <a:r>
              <a:rPr lang="en-IN" sz="2600">
                <a:latin typeface="Roboto Condensed"/>
                <a:ea typeface="Roboto Condensed"/>
                <a:cs typeface="Roboto Condensed"/>
                <a:sym typeface="Roboto Condensed"/>
              </a:rPr>
              <a:t> individuals</a:t>
            </a:r>
            <a:endParaRPr sz="2600"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265113" lvl="0" indent="-277813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600"/>
              <a:buFont typeface="Noto Sans Symbols"/>
              <a:buChar char="🞂"/>
            </a:pPr>
            <a:r>
              <a:rPr lang="en-IN" sz="2600">
                <a:latin typeface="Roboto Condensed"/>
                <a:ea typeface="Roboto Condensed"/>
                <a:cs typeface="Roboto Condensed"/>
                <a:sym typeface="Roboto Condensed"/>
              </a:rPr>
              <a:t>Emphasize</a:t>
            </a:r>
            <a:r>
              <a:rPr lang="en-IN" sz="2600" b="1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face-to-face conversation</a:t>
            </a:r>
            <a:endParaRPr sz="2600"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265113" lvl="0" indent="-277813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600"/>
              <a:buFont typeface="Noto Sans Symbols"/>
              <a:buChar char="🞂"/>
            </a:pPr>
            <a:r>
              <a:rPr lang="en-IN" sz="2600" b="1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Working software </a:t>
            </a:r>
            <a:r>
              <a:rPr lang="en-IN" sz="2600">
                <a:latin typeface="Roboto Condensed"/>
                <a:ea typeface="Roboto Condensed"/>
                <a:cs typeface="Roboto Condensed"/>
                <a:sym typeface="Roboto Condensed"/>
              </a:rPr>
              <a:t>is the </a:t>
            </a:r>
            <a:r>
              <a:rPr lang="en-IN" sz="2600" b="1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measure</a:t>
            </a:r>
            <a:r>
              <a:rPr lang="en-IN" sz="2600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IN" sz="2600">
                <a:latin typeface="Roboto Condensed"/>
                <a:ea typeface="Roboto Condensed"/>
                <a:cs typeface="Roboto Condensed"/>
                <a:sym typeface="Roboto Condensed"/>
              </a:rPr>
              <a:t>of </a:t>
            </a:r>
            <a:r>
              <a:rPr lang="en-IN" sz="2600" b="1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progress</a:t>
            </a:r>
            <a:endParaRPr sz="2600"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265113" lvl="0" indent="-277813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600"/>
              <a:buFont typeface="Noto Sans Symbols"/>
              <a:buChar char="🞂"/>
            </a:pPr>
            <a:r>
              <a:rPr lang="en-IN" sz="2600">
                <a:latin typeface="Roboto Condensed"/>
                <a:ea typeface="Roboto Condensed"/>
                <a:cs typeface="Roboto Condensed"/>
                <a:sym typeface="Roboto Condensed"/>
              </a:rPr>
              <a:t>Continuous </a:t>
            </a:r>
            <a:r>
              <a:rPr lang="en-IN" sz="2600" b="1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attention</a:t>
            </a:r>
            <a:r>
              <a:rPr lang="en-IN" sz="2600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IN" sz="2600">
                <a:latin typeface="Roboto Condensed"/>
                <a:ea typeface="Roboto Condensed"/>
                <a:cs typeface="Roboto Condensed"/>
                <a:sym typeface="Roboto Condensed"/>
              </a:rPr>
              <a:t>to </a:t>
            </a:r>
            <a:r>
              <a:rPr lang="en-IN" sz="2600" b="1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technical excellence</a:t>
            </a:r>
            <a:r>
              <a:rPr lang="en-IN" sz="2600">
                <a:latin typeface="Roboto Condensed"/>
                <a:ea typeface="Roboto Condensed"/>
                <a:cs typeface="Roboto Condensed"/>
                <a:sym typeface="Roboto Condensed"/>
              </a:rPr>
              <a:t> and </a:t>
            </a:r>
            <a:r>
              <a:rPr lang="en-IN" sz="2600" b="1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good design</a:t>
            </a:r>
            <a:endParaRPr sz="2600"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265113" lvl="0" indent="-277813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600"/>
              <a:buFont typeface="Noto Sans Symbols"/>
              <a:buChar char="🞂"/>
            </a:pPr>
            <a:r>
              <a:rPr lang="en-IN" sz="2600" b="1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Simplicity</a:t>
            </a:r>
            <a:r>
              <a:rPr lang="en-IN" sz="2600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IN" sz="2600">
                <a:latin typeface="Roboto Condensed"/>
                <a:ea typeface="Roboto Condensed"/>
                <a:cs typeface="Roboto Condensed"/>
                <a:sym typeface="Roboto Condensed"/>
              </a:rPr>
              <a:t>– the art of maximizing the amount of work done</a:t>
            </a:r>
            <a:endParaRPr sz="2600"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265113" lvl="0" indent="-277813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600"/>
              <a:buFont typeface="Noto Sans Symbols"/>
              <a:buChar char="🞂"/>
            </a:pPr>
            <a:r>
              <a:rPr lang="en-IN" sz="2600">
                <a:latin typeface="Roboto Condensed"/>
                <a:ea typeface="Roboto Condensed"/>
                <a:cs typeface="Roboto Condensed"/>
                <a:sym typeface="Roboto Condensed"/>
              </a:rPr>
              <a:t>The best designs emerge from </a:t>
            </a:r>
            <a:r>
              <a:rPr lang="en-IN" sz="2600" b="1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self-organizing teams</a:t>
            </a:r>
            <a:endParaRPr sz="2600"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265113" lvl="0" indent="-277813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600"/>
              <a:buFont typeface="Noto Sans Symbols"/>
              <a:buChar char="🞂"/>
            </a:pPr>
            <a:r>
              <a:rPr lang="en-IN" sz="2600">
                <a:latin typeface="Roboto Condensed"/>
                <a:ea typeface="Roboto Condensed"/>
                <a:cs typeface="Roboto Condensed"/>
                <a:sym typeface="Roboto Condensed"/>
              </a:rPr>
              <a:t>The </a:t>
            </a:r>
            <a:r>
              <a:rPr lang="en-IN" sz="2600" b="1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team tunes </a:t>
            </a:r>
            <a:r>
              <a:rPr lang="en-IN" sz="2600">
                <a:latin typeface="Roboto Condensed"/>
                <a:ea typeface="Roboto Condensed"/>
                <a:cs typeface="Roboto Condensed"/>
                <a:sym typeface="Roboto Condensed"/>
              </a:rPr>
              <a:t>and </a:t>
            </a:r>
            <a:r>
              <a:rPr lang="en-IN" sz="2600" b="1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adjusts</a:t>
            </a:r>
            <a:r>
              <a:rPr lang="en-IN" sz="2600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IN" sz="2600">
                <a:latin typeface="Roboto Condensed"/>
                <a:ea typeface="Roboto Condensed"/>
                <a:cs typeface="Roboto Condensed"/>
                <a:sym typeface="Roboto Condensed"/>
              </a:rPr>
              <a:t>its </a:t>
            </a:r>
            <a:r>
              <a:rPr lang="en-IN" sz="2600" b="1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behaviour</a:t>
            </a:r>
            <a:r>
              <a:rPr lang="en-IN" sz="2600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IN" sz="2600">
                <a:latin typeface="Roboto Condensed"/>
                <a:ea typeface="Roboto Condensed"/>
                <a:cs typeface="Roboto Condensed"/>
                <a:sym typeface="Roboto Condensed"/>
              </a:rPr>
              <a:t>to become more effective</a:t>
            </a:r>
            <a:endParaRPr sz="2600"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265113" lvl="0" indent="-112713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Noto Sans Symbols"/>
              <a:buNone/>
            </a:pPr>
            <a:endParaRPr sz="2600"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265113" lvl="0" indent="-112713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Noto Sans Symbols"/>
              <a:buNone/>
            </a:pPr>
            <a:endParaRPr sz="2600"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265113" lvl="0" indent="-112713" algn="just" rtl="0">
              <a:lnSpc>
                <a:spcPct val="90000"/>
              </a:lnSpc>
              <a:spcBef>
                <a:spcPts val="1000"/>
              </a:spcBef>
              <a:spcAft>
                <a:spcPts val="1600"/>
              </a:spcAft>
              <a:buClr>
                <a:schemeClr val="accent6"/>
              </a:buClr>
              <a:buSzPts val="2400"/>
              <a:buFont typeface="Noto Sans Symbols"/>
              <a:buNone/>
            </a:pPr>
            <a:endParaRPr sz="2600"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pic>
        <p:nvPicPr>
          <p:cNvPr id="138" name="Google Shape;138;p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469333" y="1517054"/>
            <a:ext cx="2317340" cy="140857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469333" y="4521401"/>
            <a:ext cx="2544517" cy="9158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7"/>
          <p:cNvSpPr txBox="1"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prstGeom prst="rect">
            <a:avLst/>
          </a:prstGeom>
          <a:solidFill>
            <a:srgbClr val="C0C0C0">
              <a:alpha val="49803"/>
            </a:srgbClr>
          </a:solidFill>
          <a:ln>
            <a:noFill/>
          </a:ln>
        </p:spPr>
        <p:txBody>
          <a:bodyPr spcFirstLastPara="1" wrap="square" lIns="216000" tIns="108000" rIns="216000" bIns="1080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3400"/>
              <a:buFont typeface="Roboto Condensed"/>
              <a:buNone/>
            </a:pPr>
            <a:r>
              <a:rPr lang="en-IN"/>
              <a:t>Where agile methodology not work</a:t>
            </a:r>
            <a:endParaRPr/>
          </a:p>
        </p:txBody>
      </p:sp>
      <p:pic>
        <p:nvPicPr>
          <p:cNvPr id="145" name="Google Shape;145;p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90500" y="990601"/>
            <a:ext cx="3765485" cy="25755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223512" y="990601"/>
            <a:ext cx="3757893" cy="257036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47" name="Google Shape;147;p7"/>
          <p:cNvCxnSpPr/>
          <p:nvPr/>
        </p:nvCxnSpPr>
        <p:spPr>
          <a:xfrm>
            <a:off x="4076685" y="999187"/>
            <a:ext cx="0" cy="5333999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148" name="Google Shape;148;p7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245798" y="990601"/>
            <a:ext cx="3752932" cy="25669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49" name="Google Shape;149;p7"/>
          <p:cNvCxnSpPr/>
          <p:nvPr/>
        </p:nvCxnSpPr>
        <p:spPr>
          <a:xfrm>
            <a:off x="8108753" y="990601"/>
            <a:ext cx="0" cy="5333999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50" name="Google Shape;150;p7"/>
          <p:cNvSpPr/>
          <p:nvPr/>
        </p:nvSpPr>
        <p:spPr>
          <a:xfrm>
            <a:off x="300446" y="4078178"/>
            <a:ext cx="3553097" cy="1682541"/>
          </a:xfrm>
          <a:prstGeom prst="wedgeRoundRectCallout">
            <a:avLst>
              <a:gd name="adj1" fmla="val -36642"/>
              <a:gd name="adj2" fmla="val -95545"/>
              <a:gd name="adj3" fmla="val 16667"/>
            </a:avLst>
          </a:prstGeom>
          <a:solidFill>
            <a:schemeClr val="lt1"/>
          </a:solidFill>
          <a:ln w="12700" cap="flat" cmpd="sng">
            <a:solidFill>
              <a:schemeClr val="accent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8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Project plan &amp; requirements are clear &amp; unlikely to change</a:t>
            </a:r>
            <a:endParaRPr/>
          </a:p>
        </p:txBody>
      </p:sp>
      <p:sp>
        <p:nvSpPr>
          <p:cNvPr id="151" name="Google Shape;151;p7"/>
          <p:cNvSpPr/>
          <p:nvPr/>
        </p:nvSpPr>
        <p:spPr>
          <a:xfrm>
            <a:off x="4320219" y="4078178"/>
            <a:ext cx="3553097" cy="1682541"/>
          </a:xfrm>
          <a:prstGeom prst="wedgeRoundRectCallout">
            <a:avLst>
              <a:gd name="adj1" fmla="val 13726"/>
              <a:gd name="adj2" fmla="val -85452"/>
              <a:gd name="adj3" fmla="val 16667"/>
            </a:avLst>
          </a:prstGeom>
          <a:solidFill>
            <a:schemeClr val="lt1"/>
          </a:solidFill>
          <a:ln w="12700" cap="flat" cmpd="sng">
            <a:solidFill>
              <a:schemeClr val="accent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8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Unclear understanding of Agile Approach among Teams</a:t>
            </a:r>
            <a:endParaRPr/>
          </a:p>
        </p:txBody>
      </p:sp>
      <p:sp>
        <p:nvSpPr>
          <p:cNvPr id="152" name="Google Shape;152;p7"/>
          <p:cNvSpPr/>
          <p:nvPr/>
        </p:nvSpPr>
        <p:spPr>
          <a:xfrm>
            <a:off x="8472219" y="4078179"/>
            <a:ext cx="3553097" cy="1682541"/>
          </a:xfrm>
          <a:prstGeom prst="wedgeRoundRectCallout">
            <a:avLst>
              <a:gd name="adj1" fmla="val 1226"/>
              <a:gd name="adj2" fmla="val -93215"/>
              <a:gd name="adj3" fmla="val 16667"/>
            </a:avLst>
          </a:prstGeom>
          <a:solidFill>
            <a:schemeClr val="lt1"/>
          </a:solidFill>
          <a:ln w="12700" cap="flat" cmpd="sng">
            <a:solidFill>
              <a:schemeClr val="accent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8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Big Enterprises where team collaboration is tough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8"/>
          <p:cNvSpPr txBox="1"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prstGeom prst="rect">
            <a:avLst/>
          </a:prstGeom>
          <a:solidFill>
            <a:srgbClr val="C0C0C0">
              <a:alpha val="49803"/>
            </a:srgbClr>
          </a:solidFill>
          <a:ln>
            <a:noFill/>
          </a:ln>
        </p:spPr>
        <p:txBody>
          <a:bodyPr spcFirstLastPara="1" wrap="square" lIns="216000" tIns="108000" rIns="216000" bIns="1080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3400"/>
              <a:buFont typeface="Roboto Condensed"/>
              <a:buNone/>
            </a:pPr>
            <a:r>
              <a:rPr lang="en-IN"/>
              <a:t>Extreme Programming (XP)</a:t>
            </a:r>
            <a:endParaRPr/>
          </a:p>
        </p:txBody>
      </p:sp>
      <p:sp>
        <p:nvSpPr>
          <p:cNvPr id="158" name="Google Shape;158;p8"/>
          <p:cNvSpPr txBox="1">
            <a:spLocks noGrp="1"/>
          </p:cNvSpPr>
          <p:nvPr>
            <p:ph type="body" idx="1"/>
          </p:nvPr>
        </p:nvSpPr>
        <p:spPr>
          <a:xfrm>
            <a:off x="131180" y="863444"/>
            <a:ext cx="11929500" cy="55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65113" lvl="0" indent="-265113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Noto Sans Symbols"/>
              <a:buChar char="🞂"/>
            </a:pPr>
            <a:r>
              <a:rPr lang="en-IN"/>
              <a:t>The most widely used approach to agile software development</a:t>
            </a:r>
            <a:endParaRPr/>
          </a:p>
          <a:p>
            <a:pPr marL="265113" lvl="0" indent="-265113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Noto Sans Symbols"/>
              <a:buChar char="🞂"/>
            </a:pPr>
            <a:r>
              <a:rPr lang="en-IN"/>
              <a:t>A variant of XP called </a:t>
            </a:r>
            <a:r>
              <a:rPr lang="en-IN" b="1">
                <a:solidFill>
                  <a:srgbClr val="C00000"/>
                </a:solidFill>
              </a:rPr>
              <a:t>Industrial XP (IXP) </a:t>
            </a:r>
            <a:r>
              <a:rPr lang="en-IN"/>
              <a:t>has been proposed to target process for large organizations</a:t>
            </a:r>
            <a:endParaRPr/>
          </a:p>
          <a:p>
            <a:pPr marL="265113" lvl="0" indent="-265113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Noto Sans Symbols"/>
              <a:buChar char="🞂"/>
            </a:pPr>
            <a:r>
              <a:rPr lang="en-IN"/>
              <a:t>It uses </a:t>
            </a:r>
            <a:r>
              <a:rPr lang="en-IN" b="1">
                <a:solidFill>
                  <a:srgbClr val="C00000"/>
                </a:solidFill>
              </a:rPr>
              <a:t>object-oriented approach </a:t>
            </a:r>
            <a:r>
              <a:rPr lang="en-IN"/>
              <a:t>as its preferred development model</a:t>
            </a:r>
            <a:endParaRPr/>
          </a:p>
          <a:p>
            <a:pPr marL="265113" lvl="0" indent="-112713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Noto Sans Symbols"/>
              <a:buNone/>
            </a:pPr>
            <a:endParaRPr/>
          </a:p>
          <a:p>
            <a:pPr marL="265113" lvl="0" indent="-112713" algn="just" rtl="0">
              <a:lnSpc>
                <a:spcPct val="90000"/>
              </a:lnSpc>
              <a:spcBef>
                <a:spcPts val="1000"/>
              </a:spcBef>
              <a:spcAft>
                <a:spcPts val="1600"/>
              </a:spcAft>
              <a:buClr>
                <a:schemeClr val="accent6"/>
              </a:buClr>
              <a:buSzPts val="2400"/>
              <a:buFont typeface="Noto Sans Symbols"/>
              <a:buNone/>
            </a:pPr>
            <a:endParaRPr/>
          </a:p>
        </p:txBody>
      </p:sp>
      <p:sp>
        <p:nvSpPr>
          <p:cNvPr id="159" name="Google Shape;159;p8"/>
          <p:cNvSpPr/>
          <p:nvPr/>
        </p:nvSpPr>
        <p:spPr>
          <a:xfrm>
            <a:off x="286474" y="2611294"/>
            <a:ext cx="1832611" cy="461665"/>
          </a:xfrm>
          <a:prstGeom prst="rect">
            <a:avLst/>
          </a:prstGeom>
          <a:solidFill>
            <a:schemeClr val="accent4"/>
          </a:solidFill>
          <a:ln w="12700" cap="flat" cmpd="sng">
            <a:solidFill>
              <a:srgbClr val="86333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 b="1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XP Values</a:t>
            </a:r>
            <a:endParaRPr/>
          </a:p>
        </p:txBody>
      </p:sp>
      <p:cxnSp>
        <p:nvCxnSpPr>
          <p:cNvPr id="160" name="Google Shape;160;p8"/>
          <p:cNvCxnSpPr/>
          <p:nvPr/>
        </p:nvCxnSpPr>
        <p:spPr>
          <a:xfrm>
            <a:off x="2107567" y="3072959"/>
            <a:ext cx="9819973" cy="0"/>
          </a:xfrm>
          <a:prstGeom prst="straightConnector1">
            <a:avLst/>
          </a:prstGeom>
          <a:noFill/>
          <a:ln w="12700" cap="flat" cmpd="sng">
            <a:solidFill>
              <a:schemeClr val="accent6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61" name="Google Shape;161;p8"/>
          <p:cNvSpPr txBox="1"/>
          <p:nvPr/>
        </p:nvSpPr>
        <p:spPr>
          <a:xfrm>
            <a:off x="190499" y="3171893"/>
            <a:ext cx="11737040" cy="33662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65113" marR="0" lvl="0" indent="-265113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Noto Sans Symbols"/>
              <a:buChar char="🞂"/>
            </a:pPr>
            <a:r>
              <a:rPr lang="en-IN" sz="2400" b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Communication: </a:t>
            </a:r>
            <a:r>
              <a:rPr lang="en-IN"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To achieve effective communication, it </a:t>
            </a:r>
            <a:r>
              <a:rPr lang="en-IN" sz="2400" b="1">
                <a:solidFill>
                  <a:srgbClr val="BF2323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emphasized close &amp; informal (verbal) collaboration</a:t>
            </a:r>
            <a:r>
              <a:rPr lang="en-IN" sz="2400" b="1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IN"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between customers and developers</a:t>
            </a:r>
            <a:endParaRPr/>
          </a:p>
          <a:p>
            <a:pPr marL="265113" marR="0" lvl="0" indent="-265113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Noto Sans Symbols"/>
              <a:buChar char="🞂"/>
            </a:pPr>
            <a:r>
              <a:rPr lang="en-IN" sz="2400" b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Simplicity: </a:t>
            </a:r>
            <a:r>
              <a:rPr lang="en-IN"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It restricts developers to </a:t>
            </a:r>
            <a:r>
              <a:rPr lang="en-IN" sz="2400" b="1">
                <a:solidFill>
                  <a:schemeClr val="accent4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design</a:t>
            </a:r>
            <a:r>
              <a:rPr lang="en-IN" sz="2400">
                <a:solidFill>
                  <a:schemeClr val="accent4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IN"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for </a:t>
            </a:r>
            <a:r>
              <a:rPr lang="en-IN" sz="2400" b="1">
                <a:solidFill>
                  <a:schemeClr val="accent6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</a:t>
            </a:r>
            <a:r>
              <a:rPr lang="en-IN" sz="2400" b="1">
                <a:solidFill>
                  <a:srgbClr val="BF2323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mmediate needs</a:t>
            </a:r>
            <a:r>
              <a:rPr lang="en-IN" sz="2400">
                <a:solidFill>
                  <a:srgbClr val="BF2323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IN" sz="2400" b="1">
                <a:solidFill>
                  <a:srgbClr val="BF2323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not</a:t>
            </a:r>
            <a:r>
              <a:rPr lang="en-IN"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for</a:t>
            </a:r>
            <a:r>
              <a:rPr lang="en-IN" sz="2400">
                <a:solidFill>
                  <a:schemeClr val="accent4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IN" sz="2400" b="1">
                <a:solidFill>
                  <a:schemeClr val="accent4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future needs</a:t>
            </a:r>
            <a:endParaRPr>
              <a:solidFill>
                <a:schemeClr val="accent4"/>
              </a:solidFill>
            </a:endParaRPr>
          </a:p>
          <a:p>
            <a:pPr marL="265113" marR="0" lvl="0" indent="-265113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Noto Sans Symbols"/>
              <a:buChar char="🞂"/>
            </a:pPr>
            <a:r>
              <a:rPr lang="en-IN" sz="2400" b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Feedback: </a:t>
            </a:r>
            <a:r>
              <a:rPr lang="en-IN"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It is derived</a:t>
            </a:r>
            <a:r>
              <a:rPr lang="en-IN" sz="2400">
                <a:solidFill>
                  <a:schemeClr val="accent4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IN" sz="2400" b="1">
                <a:solidFill>
                  <a:schemeClr val="accent4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from</a:t>
            </a:r>
            <a:r>
              <a:rPr lang="en-IN" sz="2400">
                <a:solidFill>
                  <a:schemeClr val="accent4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IN"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three sources the</a:t>
            </a:r>
            <a:r>
              <a:rPr lang="en-IN" sz="2400">
                <a:solidFill>
                  <a:srgbClr val="BF2323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IN" sz="2400" b="1">
                <a:solidFill>
                  <a:srgbClr val="BF2323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implemented software</a:t>
            </a:r>
            <a:r>
              <a:rPr lang="en-IN"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, the </a:t>
            </a:r>
            <a:r>
              <a:rPr lang="en-IN" sz="2400" b="1">
                <a:solidFill>
                  <a:srgbClr val="BF2323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customer</a:t>
            </a:r>
            <a:r>
              <a:rPr lang="en-IN" sz="2400">
                <a:solidFill>
                  <a:srgbClr val="BF2323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IN"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and </a:t>
            </a:r>
            <a:r>
              <a:rPr lang="en-IN" sz="2400" b="1">
                <a:solidFill>
                  <a:schemeClr val="accent4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other software team members</a:t>
            </a:r>
            <a:r>
              <a:rPr lang="en-IN"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, it uses </a:t>
            </a:r>
            <a:r>
              <a:rPr lang="en-IN" sz="2400" b="1">
                <a:solidFill>
                  <a:schemeClr val="accent4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Unit testing</a:t>
            </a:r>
            <a:r>
              <a:rPr lang="en-IN" sz="2400" b="1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IN"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as primary testing</a:t>
            </a:r>
            <a:endParaRPr/>
          </a:p>
          <a:p>
            <a:pPr marL="265113" marR="0" lvl="0" indent="-265113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Noto Sans Symbols"/>
              <a:buChar char="🞂"/>
            </a:pPr>
            <a:r>
              <a:rPr lang="en-IN" sz="2400" b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Courage: </a:t>
            </a:r>
            <a:r>
              <a:rPr lang="en-IN"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It demands courage (discipline), there is often significant pressure to design for future requirements, XP team </a:t>
            </a:r>
            <a:r>
              <a:rPr lang="en-IN" sz="2400" b="1">
                <a:solidFill>
                  <a:schemeClr val="accent4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must have the discipline (courage) to design for today</a:t>
            </a:r>
            <a:endParaRPr>
              <a:solidFill>
                <a:schemeClr val="accent4"/>
              </a:solidFill>
            </a:endParaRPr>
          </a:p>
          <a:p>
            <a:pPr marL="265113" marR="0" lvl="0" indent="-265113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Noto Sans Symbols"/>
              <a:buChar char="🞂"/>
            </a:pPr>
            <a:r>
              <a:rPr lang="en-IN" sz="2400" b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Respect: </a:t>
            </a:r>
            <a:r>
              <a:rPr lang="en-IN"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XP team</a:t>
            </a:r>
            <a:r>
              <a:rPr lang="en-IN" sz="2400">
                <a:solidFill>
                  <a:srgbClr val="BF2323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IN" sz="2400" b="1">
                <a:solidFill>
                  <a:srgbClr val="BF2323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respect</a:t>
            </a:r>
            <a:r>
              <a:rPr lang="en-IN"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among </a:t>
            </a:r>
            <a:r>
              <a:rPr lang="en-IN" sz="2400" b="1">
                <a:solidFill>
                  <a:srgbClr val="BF2323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members</a:t>
            </a:r>
            <a:endParaRPr>
              <a:solidFill>
                <a:srgbClr val="BF2323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9"/>
          <p:cNvSpPr txBox="1"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prstGeom prst="rect">
            <a:avLst/>
          </a:prstGeom>
          <a:solidFill>
            <a:srgbClr val="C0C0C0">
              <a:alpha val="49803"/>
            </a:srgbClr>
          </a:solidFill>
          <a:ln>
            <a:noFill/>
          </a:ln>
        </p:spPr>
        <p:txBody>
          <a:bodyPr spcFirstLastPara="1" wrap="square" lIns="216000" tIns="108000" rIns="216000" bIns="1080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3400"/>
              <a:buFont typeface="Roboto Condensed"/>
              <a:buNone/>
            </a:pPr>
            <a:r>
              <a:rPr lang="en-IN"/>
              <a:t>The XP Process</a:t>
            </a:r>
            <a:endParaRPr/>
          </a:p>
        </p:txBody>
      </p:sp>
      <p:pic>
        <p:nvPicPr>
          <p:cNvPr id="167" name="Google Shape;167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64458" y="1985679"/>
            <a:ext cx="5684645" cy="4509248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9"/>
          <p:cNvSpPr txBox="1"/>
          <p:nvPr/>
        </p:nvSpPr>
        <p:spPr>
          <a:xfrm>
            <a:off x="0" y="784295"/>
            <a:ext cx="6200349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0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It considers four framework activities</a:t>
            </a:r>
            <a:endParaRPr/>
          </a:p>
        </p:txBody>
      </p:sp>
      <p:sp>
        <p:nvSpPr>
          <p:cNvPr id="169" name="Google Shape;169;p9"/>
          <p:cNvSpPr txBox="1"/>
          <p:nvPr/>
        </p:nvSpPr>
        <p:spPr>
          <a:xfrm>
            <a:off x="-13446" y="1254334"/>
            <a:ext cx="626912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 b="1">
                <a:solidFill>
                  <a:schemeClr val="accent6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1.</a:t>
            </a:r>
            <a:r>
              <a:rPr lang="en-IN"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Planning </a:t>
            </a:r>
            <a:r>
              <a:rPr lang="en-IN" sz="2400">
                <a:solidFill>
                  <a:srgbClr val="BF2323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⬥</a:t>
            </a:r>
            <a:r>
              <a:rPr lang="en-IN"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IN" sz="2400" b="1">
                <a:solidFill>
                  <a:schemeClr val="accent6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2.</a:t>
            </a:r>
            <a:r>
              <a:rPr lang="en-IN"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Design </a:t>
            </a:r>
            <a:r>
              <a:rPr lang="en-IN" sz="2400">
                <a:solidFill>
                  <a:srgbClr val="BF2323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⬥</a:t>
            </a:r>
            <a:r>
              <a:rPr lang="en-IN"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IN" sz="2400" b="1">
                <a:solidFill>
                  <a:schemeClr val="accent6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3.</a:t>
            </a:r>
            <a:r>
              <a:rPr lang="en-IN"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Coding </a:t>
            </a:r>
            <a:r>
              <a:rPr lang="en-IN" sz="2400">
                <a:solidFill>
                  <a:srgbClr val="BF2323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⬥</a:t>
            </a:r>
            <a:r>
              <a:rPr lang="en-IN"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IN" sz="2400" b="1">
                <a:solidFill>
                  <a:schemeClr val="accent6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4.</a:t>
            </a:r>
            <a:r>
              <a:rPr lang="en-IN"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Testing</a:t>
            </a:r>
            <a:endParaRPr/>
          </a:p>
        </p:txBody>
      </p:sp>
      <p:cxnSp>
        <p:nvCxnSpPr>
          <p:cNvPr id="170" name="Google Shape;170;p9"/>
          <p:cNvCxnSpPr/>
          <p:nvPr/>
        </p:nvCxnSpPr>
        <p:spPr>
          <a:xfrm>
            <a:off x="6200349" y="711201"/>
            <a:ext cx="68771" cy="5892800"/>
          </a:xfrm>
          <a:prstGeom prst="straightConnector1">
            <a:avLst/>
          </a:prstGeom>
          <a:noFill/>
          <a:ln w="381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71" name="Google Shape;171;p9"/>
          <p:cNvSpPr/>
          <p:nvPr/>
        </p:nvSpPr>
        <p:spPr>
          <a:xfrm>
            <a:off x="6451595" y="862676"/>
            <a:ext cx="5422541" cy="5525686"/>
          </a:xfrm>
          <a:prstGeom prst="rect">
            <a:avLst/>
          </a:prstGeom>
          <a:noFill/>
          <a:ln w="127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172" name="Google Shape;172;p9"/>
          <p:cNvSpPr/>
          <p:nvPr/>
        </p:nvSpPr>
        <p:spPr>
          <a:xfrm>
            <a:off x="6451594" y="862675"/>
            <a:ext cx="5422541" cy="457201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69696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 b="1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Planning</a:t>
            </a:r>
            <a:endParaRPr/>
          </a:p>
        </p:txBody>
      </p:sp>
      <p:sp>
        <p:nvSpPr>
          <p:cNvPr id="173" name="Google Shape;173;p9"/>
          <p:cNvSpPr txBox="1"/>
          <p:nvPr/>
        </p:nvSpPr>
        <p:spPr>
          <a:xfrm>
            <a:off x="6520365" y="1392973"/>
            <a:ext cx="5353769" cy="2923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User Stories</a:t>
            </a:r>
            <a:endParaRPr/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IN" sz="2000" b="1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Customers assigns value </a:t>
            </a:r>
            <a:r>
              <a:rPr lang="en-IN" sz="20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(priority)</a:t>
            </a:r>
            <a:endParaRPr/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IN" sz="1800" b="1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Developers assigns cost </a:t>
            </a:r>
            <a:r>
              <a:rPr lang="en-IN" sz="18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(number of development weeks)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Project velocity</a:t>
            </a:r>
            <a:endParaRPr/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IN" sz="20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Computed at the end of first release</a:t>
            </a:r>
            <a:endParaRPr/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IN" sz="2000" b="1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Number of stories implemented in first release</a:t>
            </a:r>
            <a:endParaRPr/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IN" sz="20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Estimates for future release</a:t>
            </a:r>
            <a:endParaRPr/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IN" sz="2000" b="1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Guard against over-commitment</a:t>
            </a:r>
            <a:endParaRPr/>
          </a:p>
        </p:txBody>
      </p:sp>
      <p:pic>
        <p:nvPicPr>
          <p:cNvPr id="174" name="Google Shape;174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707836" y="4741765"/>
            <a:ext cx="2605981" cy="14845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0"/>
          <p:cNvSpPr txBox="1"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prstGeom prst="rect">
            <a:avLst/>
          </a:prstGeom>
          <a:solidFill>
            <a:srgbClr val="C0C0C0">
              <a:alpha val="49803"/>
            </a:srgbClr>
          </a:solidFill>
          <a:ln>
            <a:noFill/>
          </a:ln>
        </p:spPr>
        <p:txBody>
          <a:bodyPr spcFirstLastPara="1" wrap="square" lIns="216000" tIns="108000" rIns="216000" bIns="1080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3400"/>
              <a:buFont typeface="Roboto Condensed"/>
              <a:buNone/>
            </a:pPr>
            <a:r>
              <a:rPr lang="en-IN"/>
              <a:t>The XP Process cont.</a:t>
            </a:r>
            <a:endParaRPr/>
          </a:p>
        </p:txBody>
      </p:sp>
      <p:sp>
        <p:nvSpPr>
          <p:cNvPr id="180" name="Google Shape;180;p10"/>
          <p:cNvSpPr/>
          <p:nvPr/>
        </p:nvSpPr>
        <p:spPr>
          <a:xfrm>
            <a:off x="177114" y="787400"/>
            <a:ext cx="11805336" cy="238760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181" name="Google Shape;181;p10"/>
          <p:cNvSpPr txBox="1"/>
          <p:nvPr/>
        </p:nvSpPr>
        <p:spPr>
          <a:xfrm>
            <a:off x="3006556" y="870104"/>
            <a:ext cx="8398044" cy="22467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IN" sz="2000" b="1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Keep-it-Simple</a:t>
            </a:r>
            <a:r>
              <a:rPr lang="en-IN" sz="20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(Design of extra functionality is discouraged)</a:t>
            </a:r>
            <a:endParaRPr/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IN" sz="2000" b="1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Preparation of CRC card </a:t>
            </a:r>
            <a:r>
              <a:rPr lang="en-IN" sz="20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is work project</a:t>
            </a:r>
            <a:endParaRPr/>
          </a:p>
          <a:p>
            <a:pPr marL="800100" marR="0" lvl="1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IN" sz="2000" b="0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CRC cards identify and organize object-oriented classes</a:t>
            </a:r>
            <a:endParaRPr/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IN" sz="2000" b="1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Spike Solutions (</a:t>
            </a:r>
            <a:r>
              <a:rPr lang="en-IN" sz="2000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in case of difficult design problem is encountered</a:t>
            </a:r>
            <a:r>
              <a:rPr lang="en-IN" sz="2000" b="1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)</a:t>
            </a:r>
            <a:endParaRPr/>
          </a:p>
          <a:p>
            <a:pPr marL="800100" marR="0" lvl="1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IN" sz="2000" b="0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Operational prototype intended to clear confusion</a:t>
            </a:r>
            <a:endParaRPr/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IN" sz="20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Refactoring</a:t>
            </a:r>
            <a:endParaRPr/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IN" sz="20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Modify internals of code, No observable change</a:t>
            </a:r>
            <a:endParaRPr/>
          </a:p>
        </p:txBody>
      </p:sp>
      <p:sp>
        <p:nvSpPr>
          <p:cNvPr id="182" name="Google Shape;182;p10"/>
          <p:cNvSpPr/>
          <p:nvPr/>
        </p:nvSpPr>
        <p:spPr>
          <a:xfrm rot="-5400000">
            <a:off x="-743293" y="1707807"/>
            <a:ext cx="2387600" cy="546786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69696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 b="1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Design</a:t>
            </a:r>
            <a:endParaRPr/>
          </a:p>
        </p:txBody>
      </p:sp>
      <p:pic>
        <p:nvPicPr>
          <p:cNvPr id="183" name="Google Shape;183;p1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81063" y="1575091"/>
            <a:ext cx="2045199" cy="1171286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10"/>
          <p:cNvSpPr txBox="1"/>
          <p:nvPr/>
        </p:nvSpPr>
        <p:spPr>
          <a:xfrm>
            <a:off x="1065128" y="828752"/>
            <a:ext cx="160020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 b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CRC card</a:t>
            </a:r>
            <a:endParaRPr/>
          </a:p>
        </p:txBody>
      </p:sp>
      <p:sp>
        <p:nvSpPr>
          <p:cNvPr id="185" name="Google Shape;185;p10"/>
          <p:cNvSpPr/>
          <p:nvPr/>
        </p:nvSpPr>
        <p:spPr>
          <a:xfrm>
            <a:off x="171188" y="3225799"/>
            <a:ext cx="11811262" cy="2007975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186" name="Google Shape;186;p10"/>
          <p:cNvSpPr/>
          <p:nvPr/>
        </p:nvSpPr>
        <p:spPr>
          <a:xfrm rot="-5400000">
            <a:off x="-556443" y="3953431"/>
            <a:ext cx="2007975" cy="552712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69696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 b="1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Coding</a:t>
            </a:r>
            <a:endParaRPr/>
          </a:p>
        </p:txBody>
      </p:sp>
      <p:sp>
        <p:nvSpPr>
          <p:cNvPr id="187" name="Google Shape;187;p10"/>
          <p:cNvSpPr txBox="1"/>
          <p:nvPr/>
        </p:nvSpPr>
        <p:spPr>
          <a:xfrm>
            <a:off x="2962406" y="3263900"/>
            <a:ext cx="9020044" cy="19389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IN" sz="2000" b="1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Develops</a:t>
            </a:r>
            <a:r>
              <a:rPr lang="en-IN" sz="2000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IN" sz="20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 series of </a:t>
            </a:r>
            <a:r>
              <a:rPr lang="en-IN" sz="2000" b="1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Unit test </a:t>
            </a:r>
            <a:r>
              <a:rPr lang="en-IN" sz="20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for stories included in current release</a:t>
            </a:r>
            <a:endParaRPr/>
          </a:p>
          <a:p>
            <a:pPr marL="342900" marR="0" lvl="0" indent="-3429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IN" sz="2000" b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Complete code </a:t>
            </a:r>
            <a:r>
              <a:rPr lang="en-IN" sz="20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perform </a:t>
            </a:r>
            <a:r>
              <a:rPr lang="en-IN" sz="2000" b="1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unit-test</a:t>
            </a:r>
            <a:r>
              <a:rPr lang="en-IN" sz="20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to get immediate feedback</a:t>
            </a:r>
            <a:endParaRPr/>
          </a:p>
          <a:p>
            <a:pPr marL="342900" marR="0" lvl="0" indent="-3429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IN" sz="20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XP recommend </a:t>
            </a:r>
            <a:r>
              <a:rPr lang="en-IN" sz="2000" b="1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pair-programming</a:t>
            </a:r>
            <a:r>
              <a:rPr lang="en-IN" sz="20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, </a:t>
            </a:r>
            <a:r>
              <a:rPr lang="en-IN" sz="2000" b="1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“Two heads are better than one”</a:t>
            </a:r>
            <a:endParaRPr/>
          </a:p>
          <a:p>
            <a:pPr marL="342900" marR="0" lvl="0" indent="-3429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IN" sz="2000" b="1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Integrate code </a:t>
            </a:r>
            <a:r>
              <a:rPr lang="en-IN" sz="20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with other team members, this </a:t>
            </a:r>
            <a:r>
              <a:rPr lang="en-IN" sz="2000" b="1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“continuous integration”</a:t>
            </a:r>
            <a:r>
              <a:rPr lang="en-IN" sz="20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helps to avoid compatibility &amp; interfacing problems, </a:t>
            </a:r>
            <a:r>
              <a:rPr lang="en-IN" sz="2000" b="1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“smoke testing”</a:t>
            </a:r>
            <a:r>
              <a:rPr lang="en-IN" sz="20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environment to uncover errors early</a:t>
            </a:r>
            <a:endParaRPr/>
          </a:p>
        </p:txBody>
      </p:sp>
      <p:pic>
        <p:nvPicPr>
          <p:cNvPr id="188" name="Google Shape;188;p1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65128" y="3380296"/>
            <a:ext cx="1600200" cy="1677629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10"/>
          <p:cNvSpPr/>
          <p:nvPr/>
        </p:nvSpPr>
        <p:spPr>
          <a:xfrm>
            <a:off x="171188" y="5338339"/>
            <a:ext cx="9372862" cy="1093811"/>
          </a:xfrm>
          <a:prstGeom prst="rect">
            <a:avLst/>
          </a:prstGeom>
          <a:noFill/>
          <a:ln w="127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190" name="Google Shape;190;p10"/>
          <p:cNvSpPr txBox="1"/>
          <p:nvPr/>
        </p:nvSpPr>
        <p:spPr>
          <a:xfrm>
            <a:off x="1771642" y="5391769"/>
            <a:ext cx="7772408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IN" sz="2000" b="1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Unit test </a:t>
            </a:r>
            <a:r>
              <a:rPr lang="en-IN" sz="20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by </a:t>
            </a:r>
            <a:r>
              <a:rPr lang="en-IN" sz="2000" b="1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developers</a:t>
            </a:r>
            <a:r>
              <a:rPr lang="en-IN" sz="2000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IN" sz="20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&amp; fix small problems</a:t>
            </a:r>
            <a:endParaRPr/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IN" sz="2000" b="1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Acceptance tests </a:t>
            </a:r>
            <a:r>
              <a:rPr lang="en-IN" sz="20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- Specified by </a:t>
            </a:r>
            <a:r>
              <a:rPr lang="en-IN" sz="2000" b="1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customer</a:t>
            </a:r>
            <a:endParaRPr/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IN" sz="20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This encourages regression testing strategy  whenever code is modified</a:t>
            </a:r>
            <a:endParaRPr/>
          </a:p>
        </p:txBody>
      </p:sp>
      <p:sp>
        <p:nvSpPr>
          <p:cNvPr id="191" name="Google Shape;191;p10"/>
          <p:cNvSpPr/>
          <p:nvPr/>
        </p:nvSpPr>
        <p:spPr>
          <a:xfrm rot="-5400000">
            <a:off x="-96358" y="5611892"/>
            <a:ext cx="1093811" cy="546705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69696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000" b="1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Testing</a:t>
            </a:r>
            <a:endParaRPr/>
          </a:p>
        </p:txBody>
      </p:sp>
      <p:pic>
        <p:nvPicPr>
          <p:cNvPr id="192" name="Google Shape;192;p10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07467" y="5439399"/>
            <a:ext cx="907023" cy="907023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10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571421" y="7497356"/>
            <a:ext cx="7429508" cy="43300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2000"/>
                                        <p:tgtEl>
                                          <p:spTgt spid="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1"/>
          <p:cNvSpPr txBox="1"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prstGeom prst="rect">
            <a:avLst/>
          </a:prstGeom>
          <a:solidFill>
            <a:srgbClr val="C0C0C0">
              <a:alpha val="49803"/>
            </a:srgbClr>
          </a:solidFill>
          <a:ln>
            <a:noFill/>
          </a:ln>
        </p:spPr>
        <p:txBody>
          <a:bodyPr spcFirstLastPara="1" wrap="square" lIns="216000" tIns="108000" rIns="216000" bIns="1080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3400"/>
              <a:buFont typeface="Roboto Condensed"/>
              <a:buNone/>
            </a:pPr>
            <a:r>
              <a:rPr lang="en-IN"/>
              <a:t>What is Scrum?</a:t>
            </a:r>
            <a:endParaRPr/>
          </a:p>
        </p:txBody>
      </p:sp>
      <p:pic>
        <p:nvPicPr>
          <p:cNvPr id="199" name="Google Shape;199;p11"/>
          <p:cNvPicPr preferRelativeResize="0"/>
          <p:nvPr/>
        </p:nvPicPr>
        <p:blipFill rotWithShape="1">
          <a:blip r:embed="rId3">
            <a:alphaModFix/>
          </a:blip>
          <a:srcRect t="20696"/>
          <a:stretch/>
        </p:blipFill>
        <p:spPr>
          <a:xfrm>
            <a:off x="183569" y="862249"/>
            <a:ext cx="4681538" cy="2784486"/>
          </a:xfrm>
          <a:prstGeom prst="roundRect">
            <a:avLst>
              <a:gd name="adj" fmla="val 8594"/>
            </a:avLst>
          </a:prstGeom>
          <a:solidFill>
            <a:srgbClr val="ECECEC"/>
          </a:solidFill>
          <a:ln>
            <a:noFill/>
          </a:ln>
          <a:effectLst>
            <a:reflection stA="38000" endPos="28000" dist="5000" dir="5400000" sy="-100000" algn="bl" rotWithShape="0"/>
          </a:effectLst>
        </p:spPr>
      </p:pic>
      <p:sp>
        <p:nvSpPr>
          <p:cNvPr id="200" name="Google Shape;200;p11"/>
          <p:cNvSpPr/>
          <p:nvPr/>
        </p:nvSpPr>
        <p:spPr>
          <a:xfrm>
            <a:off x="133350" y="3785657"/>
            <a:ext cx="4681538" cy="2316563"/>
          </a:xfrm>
          <a:prstGeom prst="wedgeRoundRectCallout">
            <a:avLst>
              <a:gd name="adj1" fmla="val -28"/>
              <a:gd name="adj2" fmla="val -71192"/>
              <a:gd name="adj3" fmla="val 16667"/>
            </a:avLst>
          </a:prstGeom>
          <a:solidFill>
            <a:schemeClr val="lt1"/>
          </a:solidFill>
          <a:ln w="12700" cap="flat" cmpd="sng">
            <a:solidFill>
              <a:schemeClr val="accent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 scrum is a method of restarting play in rugby that involves players packing closely together with their heads down and attempting to gain possession of the ball.</a:t>
            </a:r>
            <a:endParaRPr/>
          </a:p>
        </p:txBody>
      </p:sp>
      <p:sp>
        <p:nvSpPr>
          <p:cNvPr id="201" name="Google Shape;201;p11"/>
          <p:cNvSpPr/>
          <p:nvPr/>
        </p:nvSpPr>
        <p:spPr>
          <a:xfrm>
            <a:off x="5095093" y="862249"/>
            <a:ext cx="6849257" cy="452202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2700" cap="flat" cmpd="sng">
            <a:solidFill>
              <a:srgbClr val="BF23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It is a </a:t>
            </a:r>
            <a:r>
              <a:rPr lang="en-IN" sz="2400" b="1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lightweight process framework</a:t>
            </a:r>
            <a:r>
              <a:rPr lang="en-IN"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.</a:t>
            </a:r>
            <a:endParaRPr/>
          </a:p>
        </p:txBody>
      </p:sp>
      <p:sp>
        <p:nvSpPr>
          <p:cNvPr id="202" name="Google Shape;202;p11"/>
          <p:cNvSpPr/>
          <p:nvPr/>
        </p:nvSpPr>
        <p:spPr>
          <a:xfrm>
            <a:off x="5083350" y="1395064"/>
            <a:ext cx="6861000" cy="805211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2700" cap="flat" cmpd="sng">
            <a:solidFill>
              <a:srgbClr val="BF23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2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Lightweight means the </a:t>
            </a:r>
            <a:r>
              <a:rPr lang="en-IN" sz="2200" b="1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overhead of the process is kept as small </a:t>
            </a:r>
            <a:r>
              <a:rPr lang="en-IN" sz="22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as possible in order to maximize the productivity.</a:t>
            </a:r>
            <a:endParaRPr/>
          </a:p>
        </p:txBody>
      </p:sp>
      <p:sp>
        <p:nvSpPr>
          <p:cNvPr id="203" name="Google Shape;203;p11"/>
          <p:cNvSpPr/>
          <p:nvPr/>
        </p:nvSpPr>
        <p:spPr>
          <a:xfrm>
            <a:off x="5454830" y="2678665"/>
            <a:ext cx="1747807" cy="1106992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pic>
        <p:nvPicPr>
          <p:cNvPr id="204" name="Google Shape;204;p1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34794" y="2869453"/>
            <a:ext cx="1029056" cy="803950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11"/>
          <p:cNvSpPr/>
          <p:nvPr/>
        </p:nvSpPr>
        <p:spPr>
          <a:xfrm>
            <a:off x="7315829" y="2720430"/>
            <a:ext cx="1747807" cy="1065228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pic>
        <p:nvPicPr>
          <p:cNvPr id="206" name="Google Shape;206;p1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775802" y="2803375"/>
            <a:ext cx="827859" cy="870028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11"/>
          <p:cNvSpPr/>
          <p:nvPr/>
        </p:nvSpPr>
        <p:spPr>
          <a:xfrm>
            <a:off x="9588027" y="3924298"/>
            <a:ext cx="2022050" cy="144780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pic>
        <p:nvPicPr>
          <p:cNvPr id="208" name="Google Shape;208;p11"/>
          <p:cNvPicPr preferRelativeResize="0"/>
          <p:nvPr/>
        </p:nvPicPr>
        <p:blipFill rotWithShape="1">
          <a:blip r:embed="rId6">
            <a:alphaModFix/>
          </a:blip>
          <a:srcRect t="12331" b="9583"/>
          <a:stretch/>
        </p:blipFill>
        <p:spPr>
          <a:xfrm>
            <a:off x="9707119" y="3924298"/>
            <a:ext cx="1854144" cy="1447800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11"/>
          <p:cNvSpPr/>
          <p:nvPr/>
        </p:nvSpPr>
        <p:spPr>
          <a:xfrm rot="-5400000">
            <a:off x="8653809" y="4441044"/>
            <a:ext cx="1447800" cy="414308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69696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 b="1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Sprint</a:t>
            </a:r>
            <a:endParaRPr/>
          </a:p>
        </p:txBody>
      </p:sp>
      <p:sp>
        <p:nvSpPr>
          <p:cNvPr id="210" name="Google Shape;210;p11"/>
          <p:cNvSpPr/>
          <p:nvPr/>
        </p:nvSpPr>
        <p:spPr>
          <a:xfrm>
            <a:off x="9594300" y="2378684"/>
            <a:ext cx="2022050" cy="144780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211" name="Google Shape;211;p11"/>
          <p:cNvSpPr/>
          <p:nvPr/>
        </p:nvSpPr>
        <p:spPr>
          <a:xfrm rot="-5400000">
            <a:off x="8660082" y="2895430"/>
            <a:ext cx="1447800" cy="414308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69696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 b="1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Product</a:t>
            </a:r>
            <a:endParaRPr/>
          </a:p>
        </p:txBody>
      </p:sp>
      <p:pic>
        <p:nvPicPr>
          <p:cNvPr id="212" name="Google Shape;212;p11"/>
          <p:cNvPicPr preferRelativeResize="0"/>
          <p:nvPr/>
        </p:nvPicPr>
        <p:blipFill rotWithShape="1">
          <a:blip r:embed="rId7">
            <a:alphaModFix/>
          </a:blip>
          <a:srcRect l="10234" t="9555" r="11778" b="9941"/>
          <a:stretch/>
        </p:blipFill>
        <p:spPr>
          <a:xfrm>
            <a:off x="9642517" y="2572436"/>
            <a:ext cx="1919288" cy="990600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11"/>
          <p:cNvSpPr/>
          <p:nvPr/>
        </p:nvSpPr>
        <p:spPr>
          <a:xfrm>
            <a:off x="5461398" y="2168478"/>
            <a:ext cx="1741239" cy="532166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69696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b="1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Product Backlog</a:t>
            </a:r>
            <a:endParaRPr/>
          </a:p>
        </p:txBody>
      </p:sp>
      <p:sp>
        <p:nvSpPr>
          <p:cNvPr id="214" name="Google Shape;214;p11"/>
          <p:cNvSpPr/>
          <p:nvPr/>
        </p:nvSpPr>
        <p:spPr>
          <a:xfrm>
            <a:off x="7315829" y="2378684"/>
            <a:ext cx="1747807" cy="341666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69696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b="1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Product Owner</a:t>
            </a:r>
            <a:endParaRPr/>
          </a:p>
        </p:txBody>
      </p:sp>
      <p:sp>
        <p:nvSpPr>
          <p:cNvPr id="215" name="Google Shape;215;p11"/>
          <p:cNvSpPr/>
          <p:nvPr/>
        </p:nvSpPr>
        <p:spPr>
          <a:xfrm>
            <a:off x="3425969" y="336944"/>
            <a:ext cx="875823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b="1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Scrum</a:t>
            </a:r>
            <a:r>
              <a:rPr lang="en-IN" sz="1800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IN" sz="18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is an agile process model which is used for </a:t>
            </a:r>
            <a:r>
              <a:rPr lang="en-IN" sz="1800" b="1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developing</a:t>
            </a:r>
            <a:r>
              <a:rPr lang="en-IN" sz="1800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IN" sz="18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the </a:t>
            </a:r>
            <a:r>
              <a:rPr lang="en-IN" sz="1800" b="1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complex software</a:t>
            </a:r>
            <a:r>
              <a:rPr lang="en-IN" sz="18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systems.</a:t>
            </a:r>
            <a:endParaRPr/>
          </a:p>
        </p:txBody>
      </p:sp>
      <p:sp>
        <p:nvSpPr>
          <p:cNvPr id="216" name="Google Shape;216;p11"/>
          <p:cNvSpPr/>
          <p:nvPr/>
        </p:nvSpPr>
        <p:spPr>
          <a:xfrm>
            <a:off x="5955708" y="3924298"/>
            <a:ext cx="3080611" cy="2534587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pic>
        <p:nvPicPr>
          <p:cNvPr id="217" name="Google Shape;217;p11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057503" y="4075176"/>
            <a:ext cx="2720137" cy="2349209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11"/>
          <p:cNvSpPr/>
          <p:nvPr/>
        </p:nvSpPr>
        <p:spPr>
          <a:xfrm rot="-5400000">
            <a:off x="4444023" y="4946848"/>
            <a:ext cx="2534587" cy="489487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69696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b="1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Daily Scrum Meeting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2"/>
          <p:cNvSpPr txBox="1"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prstGeom prst="rect">
            <a:avLst/>
          </a:prstGeom>
          <a:solidFill>
            <a:srgbClr val="C0C0C0">
              <a:alpha val="49803"/>
            </a:srgbClr>
          </a:solidFill>
          <a:ln>
            <a:noFill/>
          </a:ln>
        </p:spPr>
        <p:txBody>
          <a:bodyPr spcFirstLastPara="1" wrap="square" lIns="216000" tIns="108000" rIns="216000" bIns="1080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3400"/>
              <a:buFont typeface="Roboto Condensed"/>
              <a:buNone/>
            </a:pPr>
            <a:r>
              <a:rPr lang="en-IN"/>
              <a:t>Scrum framework at a glance</a:t>
            </a:r>
            <a:endParaRPr/>
          </a:p>
        </p:txBody>
      </p:sp>
      <p:pic>
        <p:nvPicPr>
          <p:cNvPr id="224" name="Google Shape;224;p1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740730" y="2995089"/>
            <a:ext cx="924786" cy="924786"/>
          </a:xfrm>
          <a:prstGeom prst="rect">
            <a:avLst/>
          </a:prstGeom>
          <a:noFill/>
          <a:ln>
            <a:noFill/>
          </a:ln>
        </p:spPr>
      </p:pic>
      <p:pic>
        <p:nvPicPr>
          <p:cNvPr id="225" name="Google Shape;225;p1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01712" y="2514600"/>
            <a:ext cx="914400" cy="960978"/>
          </a:xfrm>
          <a:prstGeom prst="rect">
            <a:avLst/>
          </a:prstGeom>
          <a:noFill/>
          <a:ln>
            <a:noFill/>
          </a:ln>
        </p:spPr>
      </p:pic>
      <p:pic>
        <p:nvPicPr>
          <p:cNvPr id="226" name="Google Shape;226;p12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93511" y="4036119"/>
            <a:ext cx="1029056" cy="803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7" name="Google Shape;227;p12"/>
          <p:cNvPicPr preferRelativeResize="0"/>
          <p:nvPr/>
        </p:nvPicPr>
        <p:blipFill rotWithShape="1">
          <a:blip r:embed="rId6">
            <a:alphaModFix/>
          </a:blip>
          <a:srcRect l="6250" t="9374" r="4687" b="6251"/>
          <a:stretch/>
        </p:blipFill>
        <p:spPr>
          <a:xfrm>
            <a:off x="2664530" y="4036118"/>
            <a:ext cx="1076112" cy="803951"/>
          </a:xfrm>
          <a:prstGeom prst="rect">
            <a:avLst/>
          </a:prstGeom>
          <a:noFill/>
          <a:ln>
            <a:noFill/>
          </a:ln>
        </p:spPr>
      </p:pic>
      <p:pic>
        <p:nvPicPr>
          <p:cNvPr id="228" name="Google Shape;228;p12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0218125" y="789540"/>
            <a:ext cx="1030952" cy="1030952"/>
          </a:xfrm>
          <a:prstGeom prst="rect">
            <a:avLst/>
          </a:prstGeom>
          <a:noFill/>
          <a:ln>
            <a:noFill/>
          </a:ln>
        </p:spPr>
      </p:pic>
      <p:pic>
        <p:nvPicPr>
          <p:cNvPr id="229" name="Google Shape;229;p12"/>
          <p:cNvPicPr preferRelativeResize="0"/>
          <p:nvPr/>
        </p:nvPicPr>
        <p:blipFill rotWithShape="1">
          <a:blip r:embed="rId8">
            <a:alphaModFix/>
          </a:blip>
          <a:srcRect l="10234" t="9555" r="11778" b="9941"/>
          <a:stretch/>
        </p:blipFill>
        <p:spPr>
          <a:xfrm>
            <a:off x="10405782" y="3547246"/>
            <a:ext cx="1078339" cy="556562"/>
          </a:xfrm>
          <a:prstGeom prst="rect">
            <a:avLst/>
          </a:prstGeom>
          <a:noFill/>
          <a:ln>
            <a:noFill/>
          </a:ln>
        </p:spPr>
      </p:pic>
      <p:pic>
        <p:nvPicPr>
          <p:cNvPr id="230" name="Google Shape;230;p12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525920" y="910792"/>
            <a:ext cx="575720" cy="789449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12"/>
          <p:cNvSpPr/>
          <p:nvPr/>
        </p:nvSpPr>
        <p:spPr>
          <a:xfrm>
            <a:off x="75914" y="856300"/>
            <a:ext cx="2998836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100" b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Inputs from Customers, Team, Managers</a:t>
            </a:r>
            <a:endParaRPr/>
          </a:p>
        </p:txBody>
      </p:sp>
      <p:sp>
        <p:nvSpPr>
          <p:cNvPr id="232" name="Google Shape;232;p12"/>
          <p:cNvSpPr/>
          <p:nvPr/>
        </p:nvSpPr>
        <p:spPr>
          <a:xfrm>
            <a:off x="1031967" y="1648599"/>
            <a:ext cx="381000" cy="617225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lt1"/>
          </a:solidFill>
          <a:ln w="127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7D4F07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233" name="Google Shape;233;p12"/>
          <p:cNvSpPr/>
          <p:nvPr/>
        </p:nvSpPr>
        <p:spPr>
          <a:xfrm>
            <a:off x="1184367" y="1676400"/>
            <a:ext cx="381000" cy="617225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lt1"/>
          </a:solidFill>
          <a:ln w="127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7D4F07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234" name="Google Shape;234;p12"/>
          <p:cNvSpPr/>
          <p:nvPr/>
        </p:nvSpPr>
        <p:spPr>
          <a:xfrm>
            <a:off x="1336767" y="1744975"/>
            <a:ext cx="381000" cy="617225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lt1"/>
          </a:solidFill>
          <a:ln w="127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7D4F07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235" name="Google Shape;235;p12"/>
          <p:cNvSpPr/>
          <p:nvPr/>
        </p:nvSpPr>
        <p:spPr>
          <a:xfrm>
            <a:off x="650967" y="3440668"/>
            <a:ext cx="163416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b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Product Owner</a:t>
            </a:r>
            <a:endParaRPr/>
          </a:p>
        </p:txBody>
      </p:sp>
      <p:sp>
        <p:nvSpPr>
          <p:cNvPr id="236" name="Google Shape;236;p12"/>
          <p:cNvSpPr/>
          <p:nvPr/>
        </p:nvSpPr>
        <p:spPr>
          <a:xfrm>
            <a:off x="970455" y="4876800"/>
            <a:ext cx="1128312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b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Product Backlog</a:t>
            </a:r>
            <a:endParaRPr/>
          </a:p>
        </p:txBody>
      </p:sp>
      <p:sp>
        <p:nvSpPr>
          <p:cNvPr id="237" name="Google Shape;237;p12"/>
          <p:cNvSpPr/>
          <p:nvPr/>
        </p:nvSpPr>
        <p:spPr>
          <a:xfrm>
            <a:off x="2403567" y="4867870"/>
            <a:ext cx="1632563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b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Sprint Planning Meeting</a:t>
            </a:r>
            <a:endParaRPr/>
          </a:p>
        </p:txBody>
      </p:sp>
      <p:pic>
        <p:nvPicPr>
          <p:cNvPr id="238" name="Google Shape;238;p12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4413684" y="1627407"/>
            <a:ext cx="5382497" cy="3175407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12"/>
          <p:cNvSpPr/>
          <p:nvPr/>
        </p:nvSpPr>
        <p:spPr>
          <a:xfrm>
            <a:off x="4413519" y="4838546"/>
            <a:ext cx="1059049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b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Sprint Backlog</a:t>
            </a:r>
            <a:endParaRPr/>
          </a:p>
        </p:txBody>
      </p:sp>
      <p:sp>
        <p:nvSpPr>
          <p:cNvPr id="240" name="Google Shape;240;p12"/>
          <p:cNvSpPr/>
          <p:nvPr/>
        </p:nvSpPr>
        <p:spPr>
          <a:xfrm>
            <a:off x="6373520" y="1710421"/>
            <a:ext cx="938634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400" b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Scrum Master</a:t>
            </a:r>
            <a:endParaRPr/>
          </a:p>
        </p:txBody>
      </p:sp>
      <p:sp>
        <p:nvSpPr>
          <p:cNvPr id="241" name="Google Shape;241;p12"/>
          <p:cNvSpPr/>
          <p:nvPr/>
        </p:nvSpPr>
        <p:spPr>
          <a:xfrm>
            <a:off x="10196696" y="1807658"/>
            <a:ext cx="1091034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400" b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Daily Scrum Meetings</a:t>
            </a:r>
            <a:endParaRPr/>
          </a:p>
        </p:txBody>
      </p:sp>
      <p:pic>
        <p:nvPicPr>
          <p:cNvPr id="242" name="Google Shape;242;p12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10430334" y="2562177"/>
            <a:ext cx="818743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12"/>
          <p:cNvSpPr/>
          <p:nvPr/>
        </p:nvSpPr>
        <p:spPr>
          <a:xfrm>
            <a:off x="10066877" y="2943415"/>
            <a:ext cx="150092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b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Sprint Review</a:t>
            </a:r>
            <a:endParaRPr/>
          </a:p>
        </p:txBody>
      </p:sp>
      <p:sp>
        <p:nvSpPr>
          <p:cNvPr id="244" name="Google Shape;244;p12"/>
          <p:cNvSpPr/>
          <p:nvPr/>
        </p:nvSpPr>
        <p:spPr>
          <a:xfrm>
            <a:off x="10139107" y="4110173"/>
            <a:ext cx="154939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b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Finished Work</a:t>
            </a:r>
            <a:endParaRPr/>
          </a:p>
        </p:txBody>
      </p:sp>
      <p:sp>
        <p:nvSpPr>
          <p:cNvPr id="245" name="Google Shape;245;p12"/>
          <p:cNvSpPr/>
          <p:nvPr/>
        </p:nvSpPr>
        <p:spPr>
          <a:xfrm>
            <a:off x="9855279" y="5544961"/>
            <a:ext cx="211705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b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Sprint Retrospective</a:t>
            </a:r>
            <a:endParaRPr/>
          </a:p>
        </p:txBody>
      </p:sp>
      <p:pic>
        <p:nvPicPr>
          <p:cNvPr id="246" name="Google Shape;246;p12"/>
          <p:cNvPicPr preferRelativeResize="0"/>
          <p:nvPr/>
        </p:nvPicPr>
        <p:blipFill rotWithShape="1">
          <a:blip r:embed="rId12">
            <a:alphaModFix/>
          </a:blip>
          <a:srcRect b="42136"/>
          <a:stretch/>
        </p:blipFill>
        <p:spPr>
          <a:xfrm>
            <a:off x="10153053" y="4820098"/>
            <a:ext cx="1207061" cy="698457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12"/>
          <p:cNvSpPr/>
          <p:nvPr/>
        </p:nvSpPr>
        <p:spPr>
          <a:xfrm>
            <a:off x="3181205" y="951820"/>
            <a:ext cx="3153662" cy="1511444"/>
          </a:xfrm>
          <a:prstGeom prst="wedgeRoundRectCallout">
            <a:avLst>
              <a:gd name="adj1" fmla="val -47585"/>
              <a:gd name="adj2" fmla="val 84651"/>
              <a:gd name="adj3" fmla="val 16667"/>
            </a:avLst>
          </a:prstGeom>
          <a:solidFill>
            <a:schemeClr val="lt1"/>
          </a:solidFill>
          <a:ln w="12700" cap="flat" cmpd="sng">
            <a:solidFill>
              <a:schemeClr val="accent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100" b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Team Selects starting at top as much as it can commit to deliver by end of sprint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100" b="1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248" name="Google Shape;248;p12"/>
          <p:cNvSpPr/>
          <p:nvPr/>
        </p:nvSpPr>
        <p:spPr>
          <a:xfrm>
            <a:off x="333016" y="5754820"/>
            <a:ext cx="3904232" cy="757219"/>
          </a:xfrm>
          <a:prstGeom prst="wedgeRoundRectCallout">
            <a:avLst>
              <a:gd name="adj1" fmla="val -19458"/>
              <a:gd name="adj2" fmla="val -82342"/>
              <a:gd name="adj3" fmla="val 16667"/>
            </a:avLst>
          </a:prstGeom>
          <a:solidFill>
            <a:schemeClr val="lt1"/>
          </a:solidFill>
          <a:ln w="12700" cap="flat" cmpd="sng">
            <a:solidFill>
              <a:schemeClr val="accent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100" b="1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100" b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Prioritized list of what is required: features, bugs to fix...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100" b="1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249" name="Google Shape;249;p12"/>
          <p:cNvSpPr/>
          <p:nvPr/>
        </p:nvSpPr>
        <p:spPr>
          <a:xfrm>
            <a:off x="6373520" y="5495002"/>
            <a:ext cx="3106656" cy="838582"/>
          </a:xfrm>
          <a:prstGeom prst="wedgeRoundRectCallout">
            <a:avLst>
              <a:gd name="adj1" fmla="val 22241"/>
              <a:gd name="adj2" fmla="val -143399"/>
              <a:gd name="adj3" fmla="val 16667"/>
            </a:avLst>
          </a:prstGeom>
          <a:solidFill>
            <a:schemeClr val="lt1"/>
          </a:solidFill>
          <a:ln w="12700" cap="flat" cmpd="sng">
            <a:solidFill>
              <a:schemeClr val="accent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100" b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Sprint end date and team deliverable do not change</a:t>
            </a:r>
            <a:endParaRPr/>
          </a:p>
        </p:txBody>
      </p:sp>
      <p:cxnSp>
        <p:nvCxnSpPr>
          <p:cNvPr id="250" name="Google Shape;250;p12"/>
          <p:cNvCxnSpPr>
            <a:stCxn id="238" idx="0"/>
          </p:cNvCxnSpPr>
          <p:nvPr/>
        </p:nvCxnSpPr>
        <p:spPr>
          <a:xfrm>
            <a:off x="7104933" y="1627407"/>
            <a:ext cx="720000" cy="32970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251" name="Google Shape;251;p12"/>
          <p:cNvCxnSpPr>
            <a:stCxn id="228" idx="1"/>
          </p:cNvCxnSpPr>
          <p:nvPr/>
        </p:nvCxnSpPr>
        <p:spPr>
          <a:xfrm flipH="1">
            <a:off x="8986625" y="1305016"/>
            <a:ext cx="1231500" cy="69930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med" len="med"/>
          </a:ln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2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13"/>
          <p:cNvSpPr txBox="1"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prstGeom prst="rect">
            <a:avLst/>
          </a:prstGeom>
          <a:solidFill>
            <a:srgbClr val="C0C0C0">
              <a:alpha val="49803"/>
            </a:srgbClr>
          </a:solidFill>
          <a:ln>
            <a:noFill/>
          </a:ln>
        </p:spPr>
        <p:txBody>
          <a:bodyPr spcFirstLastPara="1" wrap="square" lIns="216000" tIns="108000" rIns="216000" bIns="1080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3400"/>
              <a:buFont typeface="Roboto Condensed"/>
              <a:buNone/>
            </a:pPr>
            <a:r>
              <a:rPr lang="en-IN"/>
              <a:t>Scrum cont.</a:t>
            </a:r>
            <a:endParaRPr/>
          </a:p>
        </p:txBody>
      </p:sp>
      <p:sp>
        <p:nvSpPr>
          <p:cNvPr id="257" name="Google Shape;257;p13"/>
          <p:cNvSpPr/>
          <p:nvPr/>
        </p:nvSpPr>
        <p:spPr>
          <a:xfrm>
            <a:off x="172170" y="868214"/>
            <a:ext cx="2239886" cy="461624"/>
          </a:xfrm>
          <a:prstGeom prst="rect">
            <a:avLst/>
          </a:prstGeom>
          <a:solidFill>
            <a:schemeClr val="accent4"/>
          </a:solidFill>
          <a:ln w="12700" cap="flat" cmpd="sng">
            <a:solidFill>
              <a:srgbClr val="86333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 b="1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Backlog</a:t>
            </a:r>
            <a:endParaRPr/>
          </a:p>
        </p:txBody>
      </p:sp>
      <p:cxnSp>
        <p:nvCxnSpPr>
          <p:cNvPr id="258" name="Google Shape;258;p13"/>
          <p:cNvCxnSpPr/>
          <p:nvPr/>
        </p:nvCxnSpPr>
        <p:spPr>
          <a:xfrm>
            <a:off x="1993263" y="1329879"/>
            <a:ext cx="9934276" cy="0"/>
          </a:xfrm>
          <a:prstGeom prst="straightConnector1">
            <a:avLst/>
          </a:prstGeom>
          <a:noFill/>
          <a:ln w="12700" cap="flat" cmpd="sng">
            <a:solidFill>
              <a:schemeClr val="accent6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59" name="Google Shape;259;p13"/>
          <p:cNvSpPr txBox="1"/>
          <p:nvPr/>
        </p:nvSpPr>
        <p:spPr>
          <a:xfrm>
            <a:off x="190499" y="1443094"/>
            <a:ext cx="11737040" cy="17430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65113" marR="0" lvl="0" indent="-265113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Noto Sans Symbols"/>
              <a:buChar char="🞂"/>
            </a:pPr>
            <a:r>
              <a:rPr lang="en-IN"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It is a </a:t>
            </a:r>
            <a:r>
              <a:rPr lang="en-IN" sz="2400" b="1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prioritized list of project requirements</a:t>
            </a:r>
            <a:r>
              <a:rPr lang="en-IN"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or features that must be provided to the customer.</a:t>
            </a:r>
            <a:endParaRPr/>
          </a:p>
          <a:p>
            <a:pPr marL="265113" marR="0" lvl="0" indent="-265113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Noto Sans Symbols"/>
              <a:buChar char="🞂"/>
            </a:pPr>
            <a:r>
              <a:rPr lang="en-IN"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The </a:t>
            </a:r>
            <a:r>
              <a:rPr lang="en-IN" sz="2400" b="1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items can be included </a:t>
            </a:r>
            <a:r>
              <a:rPr lang="en-IN"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in the backlog at </a:t>
            </a:r>
            <a:r>
              <a:rPr lang="en-IN" sz="2400" b="1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any time</a:t>
            </a:r>
            <a:r>
              <a:rPr lang="en-IN"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.</a:t>
            </a:r>
            <a:endParaRPr/>
          </a:p>
          <a:p>
            <a:pPr marL="265113" marR="0" lvl="0" indent="-265113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Noto Sans Symbols"/>
              <a:buChar char="🞂"/>
            </a:pPr>
            <a:r>
              <a:rPr lang="en-IN"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The </a:t>
            </a:r>
            <a:r>
              <a:rPr lang="en-IN" sz="2400" b="1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product manager analyses </a:t>
            </a:r>
            <a:r>
              <a:rPr lang="en-IN"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this </a:t>
            </a:r>
            <a:r>
              <a:rPr lang="en-IN" sz="2400" b="1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list</a:t>
            </a:r>
            <a:r>
              <a:rPr lang="en-IN" sz="2400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IN"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and </a:t>
            </a:r>
            <a:r>
              <a:rPr lang="en-IN" sz="2400" b="1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updates</a:t>
            </a:r>
            <a:r>
              <a:rPr lang="en-IN" sz="2400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IN"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the </a:t>
            </a:r>
            <a:r>
              <a:rPr lang="en-IN" sz="2400" b="1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priorities</a:t>
            </a:r>
            <a:r>
              <a:rPr lang="en-IN" sz="2400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IN"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as per the requirements.</a:t>
            </a:r>
            <a:endParaRPr/>
          </a:p>
        </p:txBody>
      </p:sp>
      <p:sp>
        <p:nvSpPr>
          <p:cNvPr id="260" name="Google Shape;260;p13"/>
          <p:cNvSpPr/>
          <p:nvPr/>
        </p:nvSpPr>
        <p:spPr>
          <a:xfrm>
            <a:off x="167402" y="3208906"/>
            <a:ext cx="2653731" cy="461624"/>
          </a:xfrm>
          <a:prstGeom prst="rect">
            <a:avLst/>
          </a:prstGeom>
          <a:solidFill>
            <a:schemeClr val="accent4"/>
          </a:solidFill>
          <a:ln w="12700" cap="flat" cmpd="sng">
            <a:solidFill>
              <a:srgbClr val="86333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 b="1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Sprint</a:t>
            </a:r>
            <a:endParaRPr/>
          </a:p>
        </p:txBody>
      </p:sp>
      <p:cxnSp>
        <p:nvCxnSpPr>
          <p:cNvPr id="261" name="Google Shape;261;p13"/>
          <p:cNvCxnSpPr/>
          <p:nvPr/>
        </p:nvCxnSpPr>
        <p:spPr>
          <a:xfrm>
            <a:off x="1988495" y="3696846"/>
            <a:ext cx="9934276" cy="0"/>
          </a:xfrm>
          <a:prstGeom prst="straightConnector1">
            <a:avLst/>
          </a:prstGeom>
          <a:noFill/>
          <a:ln w="12700" cap="flat" cmpd="sng">
            <a:solidFill>
              <a:schemeClr val="accent6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62" name="Google Shape;262;p13"/>
          <p:cNvSpPr txBox="1"/>
          <p:nvPr/>
        </p:nvSpPr>
        <p:spPr>
          <a:xfrm>
            <a:off x="185731" y="3810061"/>
            <a:ext cx="11737040" cy="17430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65113" marR="0" lvl="0" indent="-265113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Noto Sans Symbols"/>
              <a:buChar char="🞂"/>
            </a:pPr>
            <a:r>
              <a:rPr lang="en-IN"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These are the </a:t>
            </a:r>
            <a:r>
              <a:rPr lang="en-IN" sz="2400" b="1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work units </a:t>
            </a:r>
            <a:r>
              <a:rPr lang="en-IN"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that are needed </a:t>
            </a:r>
            <a:r>
              <a:rPr lang="en-IN" sz="2400" b="1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to achieve</a:t>
            </a:r>
            <a:r>
              <a:rPr lang="en-IN"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the requirements mentioned in the backlogs.</a:t>
            </a:r>
            <a:endParaRPr/>
          </a:p>
          <a:p>
            <a:pPr marL="265113" marR="0" lvl="0" indent="-265113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Noto Sans Symbols"/>
              <a:buChar char="🞂"/>
            </a:pPr>
            <a:r>
              <a:rPr lang="en-IN"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Typically the sprints have </a:t>
            </a:r>
            <a:r>
              <a:rPr lang="en-IN" sz="2400" b="1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fixed duration</a:t>
            </a:r>
            <a:r>
              <a:rPr lang="en-IN"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or time box (of </a:t>
            </a:r>
            <a:r>
              <a:rPr lang="en-IN" sz="2400" b="1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2 to 4 weeks, 30 days</a:t>
            </a:r>
            <a:r>
              <a:rPr lang="en-IN"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).</a:t>
            </a:r>
            <a:endParaRPr/>
          </a:p>
          <a:p>
            <a:pPr marL="265113" marR="0" lvl="0" indent="-265113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Noto Sans Symbols"/>
              <a:buChar char="🞂"/>
            </a:pPr>
            <a:r>
              <a:rPr lang="en-IN" sz="2400" b="1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Change</a:t>
            </a:r>
            <a:r>
              <a:rPr lang="en-IN" sz="2400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IN"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are </a:t>
            </a:r>
            <a:r>
              <a:rPr lang="en-IN" sz="2400" b="1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not introduced </a:t>
            </a:r>
            <a:r>
              <a:rPr lang="en-IN"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during the </a:t>
            </a:r>
            <a:r>
              <a:rPr lang="en-IN" sz="2400" b="1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sprint</a:t>
            </a:r>
            <a:r>
              <a:rPr lang="en-IN"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.</a:t>
            </a:r>
            <a:endParaRPr/>
          </a:p>
          <a:p>
            <a:pPr marL="265113" marR="0" lvl="0" indent="-265113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Noto Sans Symbols"/>
              <a:buChar char="🞂"/>
            </a:pPr>
            <a:r>
              <a:rPr lang="en-IN"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Thus sprints allow the team </a:t>
            </a:r>
            <a:r>
              <a:rPr lang="en-IN" sz="2400" b="1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members</a:t>
            </a:r>
            <a:r>
              <a:rPr lang="en-IN" sz="2400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IN"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to </a:t>
            </a:r>
            <a:r>
              <a:rPr lang="en-IN" sz="2400" b="1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work</a:t>
            </a:r>
            <a:r>
              <a:rPr lang="en-IN" sz="2400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IN"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in </a:t>
            </a:r>
            <a:r>
              <a:rPr lang="en-IN" sz="2400" b="1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stable</a:t>
            </a:r>
            <a:r>
              <a:rPr lang="en-IN" sz="2400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IN"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and </a:t>
            </a:r>
            <a:r>
              <a:rPr lang="en-IN" sz="2400" b="1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short-term environment</a:t>
            </a:r>
            <a:endParaRPr sz="24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pic>
        <p:nvPicPr>
          <p:cNvPr id="263" name="Google Shape;263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893715" y="1912629"/>
            <a:ext cx="1029056" cy="803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" name="Google Shape;264;p1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87495" y="4471441"/>
            <a:ext cx="1600716" cy="9443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14"/>
          <p:cNvSpPr/>
          <p:nvPr/>
        </p:nvSpPr>
        <p:spPr>
          <a:xfrm>
            <a:off x="178738" y="814426"/>
            <a:ext cx="2586304" cy="461624"/>
          </a:xfrm>
          <a:prstGeom prst="rect">
            <a:avLst/>
          </a:prstGeom>
          <a:solidFill>
            <a:schemeClr val="accent4"/>
          </a:solidFill>
          <a:ln w="12700" cap="flat" cmpd="sng">
            <a:solidFill>
              <a:srgbClr val="86333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 b="1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Scrum Meetings</a:t>
            </a:r>
            <a:endParaRPr/>
          </a:p>
        </p:txBody>
      </p:sp>
      <p:cxnSp>
        <p:nvCxnSpPr>
          <p:cNvPr id="270" name="Google Shape;270;p14"/>
          <p:cNvCxnSpPr/>
          <p:nvPr/>
        </p:nvCxnSpPr>
        <p:spPr>
          <a:xfrm>
            <a:off x="1993263" y="1276091"/>
            <a:ext cx="9934276" cy="0"/>
          </a:xfrm>
          <a:prstGeom prst="straightConnector1">
            <a:avLst/>
          </a:prstGeom>
          <a:noFill/>
          <a:ln w="12700" cap="flat" cmpd="sng">
            <a:solidFill>
              <a:schemeClr val="accent6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71" name="Google Shape;271;p14"/>
          <p:cNvSpPr txBox="1"/>
          <p:nvPr/>
        </p:nvSpPr>
        <p:spPr>
          <a:xfrm>
            <a:off x="190499" y="1389305"/>
            <a:ext cx="11737040" cy="50577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65113" marR="0" lvl="0" indent="-265113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Noto Sans Symbols"/>
              <a:buChar char="🞂"/>
            </a:pPr>
            <a:r>
              <a:rPr lang="en-IN"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There are </a:t>
            </a:r>
            <a:r>
              <a:rPr lang="en-IN" sz="2400" b="1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15 minutes daily meetings </a:t>
            </a:r>
            <a:r>
              <a:rPr lang="en-IN"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to </a:t>
            </a:r>
            <a:r>
              <a:rPr lang="en-IN" sz="2400" b="1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report</a:t>
            </a:r>
            <a:r>
              <a:rPr lang="en-IN" sz="2400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IN"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the </a:t>
            </a:r>
            <a:r>
              <a:rPr lang="en-IN" sz="2400" b="1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completed</a:t>
            </a:r>
            <a:r>
              <a:rPr lang="en-IN" sz="2400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IN"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activities, </a:t>
            </a:r>
            <a:r>
              <a:rPr lang="en-IN" sz="2400" b="1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obstacles</a:t>
            </a:r>
            <a:r>
              <a:rPr lang="en-IN" sz="2400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IN"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and </a:t>
            </a:r>
            <a:r>
              <a:rPr lang="en-IN" sz="2400" b="1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plan</a:t>
            </a:r>
            <a:r>
              <a:rPr lang="en-IN" sz="2400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IN"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for </a:t>
            </a:r>
            <a:r>
              <a:rPr lang="en-IN" sz="2400" b="1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next</a:t>
            </a:r>
            <a:r>
              <a:rPr lang="en-IN" sz="2400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IN"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activities.</a:t>
            </a:r>
            <a:endParaRPr/>
          </a:p>
          <a:p>
            <a:pPr marL="265113" marR="0" lvl="0" indent="-265113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Noto Sans Symbols"/>
              <a:buChar char="🞂"/>
            </a:pPr>
            <a:r>
              <a:rPr lang="en-IN"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Following are three questions that are mainly discussed during the meetings.</a:t>
            </a:r>
            <a:endParaRPr/>
          </a:p>
          <a:p>
            <a:pPr marL="923925" marR="0" lvl="1" indent="-45720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2000"/>
              <a:buFont typeface="Roboto Condensed"/>
              <a:buAutoNum type="arabicPeriod"/>
            </a:pPr>
            <a:r>
              <a:rPr lang="en-IN" sz="2000" b="1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What</a:t>
            </a:r>
            <a:r>
              <a:rPr lang="en-IN" sz="2000" b="0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are the </a:t>
            </a:r>
            <a:r>
              <a:rPr lang="en-IN" sz="2000" b="1" i="0" u="none" strike="noStrike" cap="none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tasks done </a:t>
            </a:r>
            <a:r>
              <a:rPr lang="en-IN" sz="2000" b="0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since</a:t>
            </a:r>
            <a:r>
              <a:rPr lang="en-IN" sz="2000" b="1" i="0" u="none" strike="noStrike" cap="none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last meeting ?</a:t>
            </a:r>
            <a:endParaRPr/>
          </a:p>
          <a:p>
            <a:pPr marL="923925" marR="0" lvl="1" indent="-45720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2000"/>
              <a:buFont typeface="Roboto Condensed"/>
              <a:buAutoNum type="arabicPeriod"/>
            </a:pPr>
            <a:r>
              <a:rPr lang="en-IN" sz="2000" b="1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What</a:t>
            </a:r>
            <a:r>
              <a:rPr lang="en-IN" sz="2000" b="0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are the </a:t>
            </a:r>
            <a:r>
              <a:rPr lang="en-IN" sz="2000" b="1" i="0" u="none" strike="noStrike" cap="none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issues</a:t>
            </a:r>
            <a:r>
              <a:rPr lang="en-IN" sz="2000" b="0" i="0" u="none" strike="noStrike" cap="none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IN" sz="2000" b="0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that team is </a:t>
            </a:r>
            <a:r>
              <a:rPr lang="en-IN" sz="2000" b="1" i="0" u="none" strike="noStrike" cap="none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facing ?</a:t>
            </a:r>
            <a:endParaRPr/>
          </a:p>
          <a:p>
            <a:pPr marL="923925" marR="0" lvl="1" indent="-45720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2000"/>
              <a:buFont typeface="Roboto Condensed"/>
              <a:buAutoNum type="arabicPeriod"/>
            </a:pPr>
            <a:r>
              <a:rPr lang="en-IN" sz="2000" b="1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What</a:t>
            </a:r>
            <a:r>
              <a:rPr lang="en-IN" sz="2000" b="0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are the</a:t>
            </a:r>
            <a:r>
              <a:rPr lang="en-IN" sz="2000" b="1" i="0" u="none" strike="noStrike" cap="none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next activities</a:t>
            </a:r>
            <a:r>
              <a:rPr lang="en-IN" sz="2000" b="0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that are </a:t>
            </a:r>
            <a:r>
              <a:rPr lang="en-IN" sz="2000" b="1" i="0" u="none" strike="noStrike" cap="none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planned?</a:t>
            </a:r>
            <a:endParaRPr/>
          </a:p>
          <a:p>
            <a:pPr marL="265113" marR="0" lvl="0" indent="-265113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Noto Sans Symbols"/>
              <a:buChar char="🞂"/>
            </a:pPr>
            <a:r>
              <a:rPr lang="en-IN"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The </a:t>
            </a:r>
            <a:r>
              <a:rPr lang="en-IN" sz="2400" b="1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scrum master</a:t>
            </a:r>
            <a:r>
              <a:rPr lang="en-IN"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leads the meeting and </a:t>
            </a:r>
            <a:r>
              <a:rPr lang="en-IN" sz="2400" b="1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analyses the response </a:t>
            </a:r>
            <a:r>
              <a:rPr lang="en-IN"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of each team member.</a:t>
            </a:r>
            <a:endParaRPr/>
          </a:p>
          <a:p>
            <a:pPr marL="265113" marR="0" lvl="0" indent="-265113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Noto Sans Symbols"/>
              <a:buChar char="🞂"/>
            </a:pPr>
            <a:r>
              <a:rPr lang="en-IN"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Scrum meeting </a:t>
            </a:r>
            <a:r>
              <a:rPr lang="en-IN" sz="2400" b="1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helps</a:t>
            </a:r>
            <a:r>
              <a:rPr lang="en-IN" sz="2400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IN"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the </a:t>
            </a:r>
            <a:r>
              <a:rPr lang="en-IN" sz="2400" b="1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team</a:t>
            </a:r>
            <a:r>
              <a:rPr lang="en-IN" sz="2400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IN"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to </a:t>
            </a:r>
            <a:r>
              <a:rPr lang="en-IN" sz="2400" b="1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uncover potential problems</a:t>
            </a:r>
            <a:r>
              <a:rPr lang="en-IN"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as early as possible</a:t>
            </a:r>
            <a:endParaRPr/>
          </a:p>
          <a:p>
            <a:pPr marL="265113" marR="0" lvl="0" indent="-265113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Noto Sans Symbols"/>
              <a:buChar char="🞂"/>
            </a:pPr>
            <a:r>
              <a:rPr lang="en-IN"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It  leads to </a:t>
            </a:r>
            <a:r>
              <a:rPr lang="en-IN" sz="2400" b="1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“knowledge socialization”</a:t>
            </a:r>
            <a:r>
              <a:rPr lang="en-IN"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&amp; promotes </a:t>
            </a:r>
            <a:r>
              <a:rPr lang="en-IN" sz="2400" b="1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“self-organizing team structure”</a:t>
            </a:r>
            <a:endParaRPr/>
          </a:p>
        </p:txBody>
      </p:sp>
      <p:pic>
        <p:nvPicPr>
          <p:cNvPr id="272" name="Google Shape;272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675325" y="2278802"/>
            <a:ext cx="1030952" cy="1030952"/>
          </a:xfrm>
          <a:prstGeom prst="rect">
            <a:avLst/>
          </a:prstGeom>
          <a:noFill/>
          <a:ln>
            <a:noFill/>
          </a:ln>
        </p:spPr>
      </p:pic>
      <p:sp>
        <p:nvSpPr>
          <p:cNvPr id="273" name="Google Shape;273;p14"/>
          <p:cNvSpPr/>
          <p:nvPr/>
        </p:nvSpPr>
        <p:spPr>
          <a:xfrm>
            <a:off x="172170" y="5054731"/>
            <a:ext cx="2993579" cy="461665"/>
          </a:xfrm>
          <a:prstGeom prst="rect">
            <a:avLst/>
          </a:prstGeom>
          <a:solidFill>
            <a:schemeClr val="accent4"/>
          </a:solidFill>
          <a:ln w="12700" cap="flat" cmpd="sng">
            <a:solidFill>
              <a:srgbClr val="86333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 b="1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Demo</a:t>
            </a:r>
            <a:endParaRPr/>
          </a:p>
        </p:txBody>
      </p:sp>
      <p:cxnSp>
        <p:nvCxnSpPr>
          <p:cNvPr id="274" name="Google Shape;274;p14"/>
          <p:cNvCxnSpPr/>
          <p:nvPr/>
        </p:nvCxnSpPr>
        <p:spPr>
          <a:xfrm>
            <a:off x="1993263" y="5516396"/>
            <a:ext cx="9934276" cy="0"/>
          </a:xfrm>
          <a:prstGeom prst="straightConnector1">
            <a:avLst/>
          </a:prstGeom>
          <a:noFill/>
          <a:ln w="12700" cap="flat" cmpd="sng">
            <a:solidFill>
              <a:schemeClr val="accent6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75" name="Google Shape;275;p14"/>
          <p:cNvSpPr txBox="1"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prstGeom prst="rect">
            <a:avLst/>
          </a:prstGeom>
          <a:solidFill>
            <a:srgbClr val="C0C0C0">
              <a:alpha val="49803"/>
            </a:srgbClr>
          </a:solidFill>
          <a:ln>
            <a:noFill/>
          </a:ln>
        </p:spPr>
        <p:txBody>
          <a:bodyPr spcFirstLastPara="1" wrap="square" lIns="216000" tIns="108000" rIns="216000" bIns="1080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3400"/>
              <a:buFont typeface="Roboto Condensed"/>
              <a:buNone/>
            </a:pPr>
            <a:r>
              <a:rPr lang="en-IN"/>
              <a:t>Scrum cont.</a:t>
            </a:r>
            <a:endParaRPr/>
          </a:p>
        </p:txBody>
      </p:sp>
      <p:sp>
        <p:nvSpPr>
          <p:cNvPr id="276" name="Google Shape;276;p14"/>
          <p:cNvSpPr txBox="1"/>
          <p:nvPr/>
        </p:nvSpPr>
        <p:spPr>
          <a:xfrm>
            <a:off x="227480" y="5605297"/>
            <a:ext cx="11737040" cy="9306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65113" marR="0" lvl="0" indent="-265113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Noto Sans Symbols"/>
              <a:buChar char="🞂"/>
            </a:pPr>
            <a:r>
              <a:rPr lang="en-IN"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Deliver </a:t>
            </a:r>
            <a:r>
              <a:rPr lang="en-IN" sz="2400" b="1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software increment </a:t>
            </a:r>
            <a:r>
              <a:rPr lang="en-IN"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to customer</a:t>
            </a:r>
            <a:endParaRPr/>
          </a:p>
          <a:p>
            <a:pPr marL="265113" marR="0" lvl="0" indent="-265113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Noto Sans Symbols"/>
              <a:buChar char="🞂"/>
            </a:pPr>
            <a:r>
              <a:rPr lang="en-IN"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Implemented functionalities are </a:t>
            </a:r>
            <a:r>
              <a:rPr lang="en-IN" sz="2400" b="1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demonstrated</a:t>
            </a:r>
            <a:r>
              <a:rPr lang="en-IN" sz="2400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IN"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to the customer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2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15"/>
          <p:cNvSpPr txBox="1"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prstGeom prst="rect">
            <a:avLst/>
          </a:prstGeom>
          <a:solidFill>
            <a:srgbClr val="C0C0C0">
              <a:alpha val="49803"/>
            </a:srgbClr>
          </a:solidFill>
          <a:ln>
            <a:noFill/>
          </a:ln>
        </p:spPr>
        <p:txBody>
          <a:bodyPr spcFirstLastPara="1" wrap="square" lIns="216000" tIns="108000" rIns="216000" bIns="1080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3400"/>
              <a:buFont typeface="Roboto Condensed"/>
              <a:buNone/>
            </a:pPr>
            <a:r>
              <a:rPr lang="en-IN"/>
              <a:t>Adaptive Software development (ASD)</a:t>
            </a:r>
            <a:endParaRPr/>
          </a:p>
        </p:txBody>
      </p:sp>
      <p:sp>
        <p:nvSpPr>
          <p:cNvPr id="282" name="Google Shape;282;p15"/>
          <p:cNvSpPr txBox="1">
            <a:spLocks noGrp="1"/>
          </p:cNvSpPr>
          <p:nvPr>
            <p:ph type="body" idx="1"/>
          </p:nvPr>
        </p:nvSpPr>
        <p:spPr>
          <a:xfrm>
            <a:off x="131180" y="863444"/>
            <a:ext cx="11929500" cy="55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65113" lvl="0" indent="-265113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Noto Sans Symbols"/>
              <a:buChar char="🞂"/>
            </a:pPr>
            <a:r>
              <a:rPr lang="en-IN"/>
              <a:t>This is a technique for building complex software systems using iterative approach.</a:t>
            </a:r>
            <a:endParaRPr/>
          </a:p>
          <a:p>
            <a:pPr marL="265113" lvl="0" indent="-265113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Noto Sans Symbols"/>
              <a:buChar char="🞂"/>
            </a:pPr>
            <a:r>
              <a:rPr lang="en-IN"/>
              <a:t>ASD focus on </a:t>
            </a:r>
            <a:r>
              <a:rPr lang="en-IN">
                <a:solidFill>
                  <a:srgbClr val="C00000"/>
                </a:solidFill>
              </a:rPr>
              <a:t>working in collaboration </a:t>
            </a:r>
            <a:r>
              <a:rPr lang="en-IN"/>
              <a:t>and </a:t>
            </a:r>
            <a:r>
              <a:rPr lang="en-IN">
                <a:solidFill>
                  <a:srgbClr val="C00000"/>
                </a:solidFill>
              </a:rPr>
              <a:t>team self-organization</a:t>
            </a:r>
            <a:r>
              <a:rPr lang="en-IN"/>
              <a:t>.</a:t>
            </a:r>
            <a:endParaRPr/>
          </a:p>
          <a:p>
            <a:pPr marL="809625" lvl="1" indent="-225425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</a:pPr>
            <a:endParaRPr/>
          </a:p>
          <a:p>
            <a:pPr marL="265113" lvl="0" indent="-112713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Noto Sans Symbols"/>
              <a:buNone/>
            </a:pPr>
            <a:endParaRPr/>
          </a:p>
          <a:p>
            <a:pPr marL="265113" lvl="0" indent="-112713" algn="just" rtl="0">
              <a:lnSpc>
                <a:spcPct val="90000"/>
              </a:lnSpc>
              <a:spcBef>
                <a:spcPts val="1000"/>
              </a:spcBef>
              <a:spcAft>
                <a:spcPts val="1600"/>
              </a:spcAft>
              <a:buClr>
                <a:schemeClr val="accent6"/>
              </a:buClr>
              <a:buSzPts val="2400"/>
              <a:buFont typeface="Noto Sans Symbols"/>
              <a:buNone/>
            </a:pPr>
            <a:endParaRPr/>
          </a:p>
        </p:txBody>
      </p:sp>
      <p:pic>
        <p:nvPicPr>
          <p:cNvPr id="283" name="Google Shape;283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91391" y="3166766"/>
            <a:ext cx="3846139" cy="3247518"/>
          </a:xfrm>
          <a:prstGeom prst="rect">
            <a:avLst/>
          </a:prstGeom>
          <a:noFill/>
          <a:ln>
            <a:noFill/>
          </a:ln>
        </p:spPr>
      </p:pic>
      <p:sp>
        <p:nvSpPr>
          <p:cNvPr id="284" name="Google Shape;284;p15"/>
          <p:cNvSpPr/>
          <p:nvPr/>
        </p:nvSpPr>
        <p:spPr>
          <a:xfrm>
            <a:off x="131180" y="1940885"/>
            <a:ext cx="4716356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800" b="1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ASD incorporates three phases </a:t>
            </a:r>
            <a:endParaRPr/>
          </a:p>
        </p:txBody>
      </p:sp>
      <p:sp>
        <p:nvSpPr>
          <p:cNvPr id="285" name="Google Shape;285;p15"/>
          <p:cNvSpPr txBox="1"/>
          <p:nvPr/>
        </p:nvSpPr>
        <p:spPr>
          <a:xfrm>
            <a:off x="131180" y="2488659"/>
            <a:ext cx="560216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1. Speculation, 2. Collaboration &amp; 3. Learning</a:t>
            </a:r>
            <a:endParaRPr/>
          </a:p>
        </p:txBody>
      </p:sp>
      <p:cxnSp>
        <p:nvCxnSpPr>
          <p:cNvPr id="286" name="Google Shape;286;p15"/>
          <p:cNvCxnSpPr/>
          <p:nvPr/>
        </p:nvCxnSpPr>
        <p:spPr>
          <a:xfrm>
            <a:off x="131180" y="1860203"/>
            <a:ext cx="11782914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287" name="Google Shape;287;p15"/>
          <p:cNvCxnSpPr/>
          <p:nvPr/>
        </p:nvCxnSpPr>
        <p:spPr>
          <a:xfrm>
            <a:off x="5961939" y="1917701"/>
            <a:ext cx="0" cy="4496583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88" name="Google Shape;288;p15"/>
          <p:cNvSpPr/>
          <p:nvPr/>
        </p:nvSpPr>
        <p:spPr>
          <a:xfrm>
            <a:off x="6172210" y="1917701"/>
            <a:ext cx="1832611" cy="461665"/>
          </a:xfrm>
          <a:prstGeom prst="rect">
            <a:avLst/>
          </a:prstGeom>
          <a:solidFill>
            <a:schemeClr val="accent4"/>
          </a:solidFill>
          <a:ln w="12700" cap="flat" cmpd="sng">
            <a:solidFill>
              <a:srgbClr val="86333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 b="1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Speculation</a:t>
            </a:r>
            <a:endParaRPr/>
          </a:p>
        </p:txBody>
      </p:sp>
      <p:cxnSp>
        <p:nvCxnSpPr>
          <p:cNvPr id="289" name="Google Shape;289;p15"/>
          <p:cNvCxnSpPr/>
          <p:nvPr/>
        </p:nvCxnSpPr>
        <p:spPr>
          <a:xfrm>
            <a:off x="7993303" y="2379366"/>
            <a:ext cx="3826662" cy="0"/>
          </a:xfrm>
          <a:prstGeom prst="straightConnector1">
            <a:avLst/>
          </a:prstGeom>
          <a:noFill/>
          <a:ln w="12700" cap="flat" cmpd="sng">
            <a:solidFill>
              <a:schemeClr val="accent6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90" name="Google Shape;290;p15"/>
          <p:cNvSpPr txBox="1"/>
          <p:nvPr/>
        </p:nvSpPr>
        <p:spPr>
          <a:xfrm>
            <a:off x="6190539" y="2492581"/>
            <a:ext cx="5723555" cy="1272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65113" marR="0" lvl="0" indent="-265113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Noto Sans Symbols"/>
              <a:buChar char="🞂"/>
            </a:pPr>
            <a:r>
              <a:rPr lang="en-IN"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The adaptive </a:t>
            </a:r>
            <a:r>
              <a:rPr lang="en-IN" sz="2400" b="1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cycle planning </a:t>
            </a:r>
            <a:r>
              <a:rPr lang="en-IN"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is </a:t>
            </a:r>
            <a:r>
              <a:rPr lang="en-IN" sz="2400" b="1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conducted</a:t>
            </a:r>
            <a:r>
              <a:rPr lang="en-IN"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.</a:t>
            </a:r>
            <a:endParaRPr/>
          </a:p>
          <a:p>
            <a:pPr marL="265113" marR="0" lvl="0" indent="-265113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Noto Sans Symbols"/>
              <a:buChar char="🞂"/>
            </a:pPr>
            <a:r>
              <a:rPr lang="en-IN"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In this cycle planning mainly three types of information is used</a:t>
            </a:r>
            <a:endParaRPr/>
          </a:p>
        </p:txBody>
      </p:sp>
      <p:sp>
        <p:nvSpPr>
          <p:cNvPr id="291" name="Google Shape;291;p15"/>
          <p:cNvSpPr/>
          <p:nvPr/>
        </p:nvSpPr>
        <p:spPr>
          <a:xfrm>
            <a:off x="7099496" y="3807899"/>
            <a:ext cx="4073176" cy="415498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1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Customer’s </a:t>
            </a:r>
            <a:r>
              <a:rPr lang="en-IN" sz="2100" b="1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mission statement</a:t>
            </a:r>
            <a:endParaRPr sz="21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292" name="Google Shape;292;p15"/>
          <p:cNvSpPr/>
          <p:nvPr/>
        </p:nvSpPr>
        <p:spPr>
          <a:xfrm>
            <a:off x="7099496" y="4360000"/>
            <a:ext cx="4073176" cy="692497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1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Project </a:t>
            </a:r>
            <a:r>
              <a:rPr lang="en-IN" sz="2100" b="1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constraints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(Delivery date, budgets etc…)</a:t>
            </a:r>
            <a:endParaRPr/>
          </a:p>
        </p:txBody>
      </p:sp>
      <p:sp>
        <p:nvSpPr>
          <p:cNvPr id="293" name="Google Shape;293;p15"/>
          <p:cNvSpPr/>
          <p:nvPr/>
        </p:nvSpPr>
        <p:spPr>
          <a:xfrm>
            <a:off x="7099496" y="5208444"/>
            <a:ext cx="4073176" cy="415498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100" b="1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Basic requirements </a:t>
            </a:r>
            <a:r>
              <a:rPr lang="en-IN" sz="21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of the project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16"/>
          <p:cNvSpPr txBox="1"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prstGeom prst="rect">
            <a:avLst/>
          </a:prstGeom>
          <a:solidFill>
            <a:srgbClr val="C0C0C0">
              <a:alpha val="49803"/>
            </a:srgbClr>
          </a:solidFill>
          <a:ln>
            <a:noFill/>
          </a:ln>
        </p:spPr>
        <p:txBody>
          <a:bodyPr spcFirstLastPara="1" wrap="square" lIns="216000" tIns="108000" rIns="216000" bIns="1080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3400"/>
              <a:buFont typeface="Roboto Condensed"/>
              <a:buNone/>
            </a:pPr>
            <a:r>
              <a:rPr lang="en-IN"/>
              <a:t>Adaptive Software development (ASD) cont.</a:t>
            </a:r>
            <a:endParaRPr/>
          </a:p>
        </p:txBody>
      </p:sp>
      <p:sp>
        <p:nvSpPr>
          <p:cNvPr id="299" name="Google Shape;299;p16"/>
          <p:cNvSpPr/>
          <p:nvPr/>
        </p:nvSpPr>
        <p:spPr>
          <a:xfrm>
            <a:off x="172170" y="868214"/>
            <a:ext cx="1832611" cy="461665"/>
          </a:xfrm>
          <a:prstGeom prst="rect">
            <a:avLst/>
          </a:prstGeom>
          <a:solidFill>
            <a:schemeClr val="accent4"/>
          </a:solidFill>
          <a:ln w="12700" cap="flat" cmpd="sng">
            <a:solidFill>
              <a:srgbClr val="86333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 b="1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Collaboration</a:t>
            </a:r>
            <a:endParaRPr/>
          </a:p>
        </p:txBody>
      </p:sp>
      <p:cxnSp>
        <p:nvCxnSpPr>
          <p:cNvPr id="300" name="Google Shape;300;p16"/>
          <p:cNvCxnSpPr/>
          <p:nvPr/>
        </p:nvCxnSpPr>
        <p:spPr>
          <a:xfrm>
            <a:off x="1993263" y="1329879"/>
            <a:ext cx="4111702" cy="0"/>
          </a:xfrm>
          <a:prstGeom prst="straightConnector1">
            <a:avLst/>
          </a:prstGeom>
          <a:noFill/>
          <a:ln w="12700" cap="flat" cmpd="sng">
            <a:solidFill>
              <a:schemeClr val="accent6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01" name="Google Shape;301;p16"/>
          <p:cNvSpPr txBox="1"/>
          <p:nvPr/>
        </p:nvSpPr>
        <p:spPr>
          <a:xfrm>
            <a:off x="190499" y="1443093"/>
            <a:ext cx="5781282" cy="21069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65113" marR="0" lvl="0" indent="-265113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Noto Sans Symbols"/>
              <a:buChar char="🞂"/>
            </a:pPr>
            <a:r>
              <a:rPr lang="en-IN"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In this, </a:t>
            </a:r>
            <a:r>
              <a:rPr lang="en-IN" sz="2400" b="1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collaboration</a:t>
            </a:r>
            <a:r>
              <a:rPr lang="en-IN"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among the </a:t>
            </a:r>
            <a:r>
              <a:rPr lang="en-IN" sz="2400" b="1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members</a:t>
            </a:r>
            <a:r>
              <a:rPr lang="en-IN" sz="2400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IN"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of </a:t>
            </a:r>
            <a:r>
              <a:rPr lang="en-IN" sz="2400" b="1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development team</a:t>
            </a:r>
            <a:r>
              <a:rPr lang="en-IN"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is a key factor.</a:t>
            </a:r>
            <a:endParaRPr/>
          </a:p>
          <a:p>
            <a:pPr marL="265113" marR="0" lvl="0" indent="-265113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Noto Sans Symbols"/>
              <a:buChar char="🞂"/>
            </a:pPr>
            <a:r>
              <a:rPr lang="en-IN"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For </a:t>
            </a:r>
            <a:r>
              <a:rPr lang="en-IN" sz="2400" b="1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successful collaboration </a:t>
            </a:r>
            <a:r>
              <a:rPr lang="en-IN"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and coordination it is necessary to have following </a:t>
            </a:r>
            <a:r>
              <a:rPr lang="en-IN" sz="2400" b="1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qualities</a:t>
            </a:r>
            <a:r>
              <a:rPr lang="en-IN" sz="2400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IN"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in every individual</a:t>
            </a:r>
            <a:endParaRPr/>
          </a:p>
        </p:txBody>
      </p:sp>
      <p:sp>
        <p:nvSpPr>
          <p:cNvPr id="302" name="Google Shape;302;p16"/>
          <p:cNvSpPr/>
          <p:nvPr/>
        </p:nvSpPr>
        <p:spPr>
          <a:xfrm>
            <a:off x="6617796" y="872699"/>
            <a:ext cx="1832611" cy="461665"/>
          </a:xfrm>
          <a:prstGeom prst="rect">
            <a:avLst/>
          </a:prstGeom>
          <a:solidFill>
            <a:schemeClr val="accent4"/>
          </a:solidFill>
          <a:ln w="12700" cap="flat" cmpd="sng">
            <a:solidFill>
              <a:srgbClr val="86333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 b="1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Learning</a:t>
            </a:r>
            <a:endParaRPr/>
          </a:p>
        </p:txBody>
      </p:sp>
      <p:cxnSp>
        <p:nvCxnSpPr>
          <p:cNvPr id="303" name="Google Shape;303;p16"/>
          <p:cNvCxnSpPr/>
          <p:nvPr/>
        </p:nvCxnSpPr>
        <p:spPr>
          <a:xfrm>
            <a:off x="8438889" y="1334364"/>
            <a:ext cx="3448311" cy="0"/>
          </a:xfrm>
          <a:prstGeom prst="straightConnector1">
            <a:avLst/>
          </a:prstGeom>
          <a:noFill/>
          <a:ln w="12700" cap="flat" cmpd="sng">
            <a:solidFill>
              <a:schemeClr val="accent6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04" name="Google Shape;304;p16"/>
          <p:cNvSpPr txBox="1"/>
          <p:nvPr/>
        </p:nvSpPr>
        <p:spPr>
          <a:xfrm>
            <a:off x="6636125" y="1447579"/>
            <a:ext cx="5372099" cy="18872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65113" marR="0" lvl="0" indent="-265113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Noto Sans Symbols"/>
              <a:buChar char="🞂"/>
            </a:pPr>
            <a:r>
              <a:rPr lang="en-IN"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Emphasize is on </a:t>
            </a:r>
            <a:r>
              <a:rPr lang="en-IN" sz="2400" b="1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learning</a:t>
            </a:r>
            <a:r>
              <a:rPr lang="en-IN"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new </a:t>
            </a:r>
            <a:r>
              <a:rPr lang="en-IN" sz="2400" b="1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skills</a:t>
            </a:r>
            <a:r>
              <a:rPr lang="en-IN" sz="2400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IN"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and techniques.</a:t>
            </a:r>
            <a:endParaRPr/>
          </a:p>
          <a:p>
            <a:pPr marL="265113" marR="0" lvl="0" indent="-265113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Noto Sans Symbols"/>
              <a:buChar char="🞂"/>
            </a:pPr>
            <a:r>
              <a:rPr lang="en-IN"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There are three ways by which the team members learn</a:t>
            </a:r>
            <a:endParaRPr/>
          </a:p>
        </p:txBody>
      </p:sp>
      <p:sp>
        <p:nvSpPr>
          <p:cNvPr id="305" name="Google Shape;305;p16"/>
          <p:cNvSpPr/>
          <p:nvPr/>
        </p:nvSpPr>
        <p:spPr>
          <a:xfrm>
            <a:off x="488576" y="3713570"/>
            <a:ext cx="5227713" cy="415498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100" b="1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Assist each other</a:t>
            </a:r>
            <a:r>
              <a:rPr lang="en-IN" sz="21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without resentment (offense)</a:t>
            </a:r>
            <a:endParaRPr/>
          </a:p>
        </p:txBody>
      </p:sp>
      <p:sp>
        <p:nvSpPr>
          <p:cNvPr id="306" name="Google Shape;306;p16"/>
          <p:cNvSpPr/>
          <p:nvPr/>
        </p:nvSpPr>
        <p:spPr>
          <a:xfrm>
            <a:off x="488575" y="4270797"/>
            <a:ext cx="1516205" cy="415498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1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Work </a:t>
            </a:r>
            <a:r>
              <a:rPr lang="en-IN" sz="2100" b="1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hard</a:t>
            </a:r>
            <a:endParaRPr/>
          </a:p>
        </p:txBody>
      </p:sp>
      <p:sp>
        <p:nvSpPr>
          <p:cNvPr id="307" name="Google Shape;307;p16"/>
          <p:cNvSpPr/>
          <p:nvPr/>
        </p:nvSpPr>
        <p:spPr>
          <a:xfrm>
            <a:off x="2168523" y="4283182"/>
            <a:ext cx="3547766" cy="415498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100" b="1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Posses</a:t>
            </a:r>
            <a:r>
              <a:rPr lang="en-IN" sz="2100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IN" sz="21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the required </a:t>
            </a:r>
            <a:r>
              <a:rPr lang="en-IN" sz="2100" b="1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skill set</a:t>
            </a:r>
            <a:endParaRPr/>
          </a:p>
        </p:txBody>
      </p:sp>
      <p:sp>
        <p:nvSpPr>
          <p:cNvPr id="308" name="Google Shape;308;p16"/>
          <p:cNvSpPr/>
          <p:nvPr/>
        </p:nvSpPr>
        <p:spPr>
          <a:xfrm>
            <a:off x="488575" y="4889892"/>
            <a:ext cx="5227713" cy="415498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100" b="1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Communicate problems </a:t>
            </a:r>
            <a:r>
              <a:rPr lang="en-IN" sz="21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and help each other</a:t>
            </a:r>
            <a:endParaRPr/>
          </a:p>
        </p:txBody>
      </p:sp>
      <p:sp>
        <p:nvSpPr>
          <p:cNvPr id="309" name="Google Shape;309;p16"/>
          <p:cNvSpPr/>
          <p:nvPr/>
        </p:nvSpPr>
        <p:spPr>
          <a:xfrm>
            <a:off x="488576" y="5447119"/>
            <a:ext cx="5227712" cy="415498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100" b="1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Criticize</a:t>
            </a:r>
            <a:r>
              <a:rPr lang="en-IN" sz="2100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IN" sz="2100" b="1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without</a:t>
            </a:r>
            <a:r>
              <a:rPr lang="en-IN" sz="2100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IN" sz="21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any </a:t>
            </a:r>
            <a:r>
              <a:rPr lang="en-IN" sz="2100" b="1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hate</a:t>
            </a:r>
            <a:endParaRPr/>
          </a:p>
        </p:txBody>
      </p:sp>
      <p:sp>
        <p:nvSpPr>
          <p:cNvPr id="310" name="Google Shape;310;p16"/>
          <p:cNvSpPr/>
          <p:nvPr/>
        </p:nvSpPr>
        <p:spPr>
          <a:xfrm>
            <a:off x="6642846" y="3112519"/>
            <a:ext cx="5365378" cy="738664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1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Focus groups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1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The </a:t>
            </a:r>
            <a:r>
              <a:rPr lang="en-IN" sz="2100" b="1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feedback</a:t>
            </a:r>
            <a:r>
              <a:rPr lang="en-IN" sz="2100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IN" sz="21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from the </a:t>
            </a:r>
            <a:r>
              <a:rPr lang="en-IN" sz="2100" b="1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end-users</a:t>
            </a:r>
            <a:r>
              <a:rPr lang="en-IN" sz="21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is obtained.</a:t>
            </a:r>
            <a:endParaRPr/>
          </a:p>
        </p:txBody>
      </p:sp>
      <p:sp>
        <p:nvSpPr>
          <p:cNvPr id="311" name="Google Shape;311;p16"/>
          <p:cNvSpPr/>
          <p:nvPr/>
        </p:nvSpPr>
        <p:spPr>
          <a:xfrm>
            <a:off x="6642846" y="3906666"/>
            <a:ext cx="5365378" cy="738664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1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Formal </a:t>
            </a:r>
            <a:r>
              <a:rPr lang="en-IN" sz="2100" b="1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technical review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1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This review is conducted for better quality.</a:t>
            </a:r>
            <a:endParaRPr/>
          </a:p>
        </p:txBody>
      </p:sp>
      <p:sp>
        <p:nvSpPr>
          <p:cNvPr id="312" name="Google Shape;312;p16"/>
          <p:cNvSpPr/>
          <p:nvPr/>
        </p:nvSpPr>
        <p:spPr>
          <a:xfrm>
            <a:off x="6642846" y="4701322"/>
            <a:ext cx="5365378" cy="1061829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100" b="1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Postmortems</a:t>
            </a:r>
            <a:endParaRPr sz="2100" b="1">
              <a:solidFill>
                <a:srgbClr val="C00000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1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Team analyses its own performance and makes appropriate improvements.</a:t>
            </a:r>
            <a:endParaRPr/>
          </a:p>
        </p:txBody>
      </p:sp>
      <p:cxnSp>
        <p:nvCxnSpPr>
          <p:cNvPr id="313" name="Google Shape;313;p16"/>
          <p:cNvCxnSpPr/>
          <p:nvPr/>
        </p:nvCxnSpPr>
        <p:spPr>
          <a:xfrm>
            <a:off x="6360460" y="747191"/>
            <a:ext cx="0" cy="5868762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17"/>
          <p:cNvSpPr txBox="1"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prstGeom prst="rect">
            <a:avLst/>
          </a:prstGeom>
          <a:solidFill>
            <a:srgbClr val="C0C0C0">
              <a:alpha val="49803"/>
            </a:srgbClr>
          </a:solidFill>
          <a:ln>
            <a:noFill/>
          </a:ln>
        </p:spPr>
        <p:txBody>
          <a:bodyPr spcFirstLastPara="1" wrap="square" lIns="216000" tIns="108000" rIns="216000" bIns="1080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3400"/>
              <a:buFont typeface="Roboto Condensed"/>
              <a:buNone/>
            </a:pPr>
            <a:r>
              <a:rPr lang="en-IN"/>
              <a:t>Dynamic Systems Development Methods (DSDM)</a:t>
            </a:r>
            <a:endParaRPr/>
          </a:p>
        </p:txBody>
      </p:sp>
      <p:sp>
        <p:nvSpPr>
          <p:cNvPr id="319" name="Google Shape;319;p17"/>
          <p:cNvSpPr/>
          <p:nvPr/>
        </p:nvSpPr>
        <p:spPr>
          <a:xfrm>
            <a:off x="236345" y="864205"/>
            <a:ext cx="11744983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Various phases of this life cycle model</a:t>
            </a:r>
            <a:endParaRPr/>
          </a:p>
        </p:txBody>
      </p:sp>
      <p:sp>
        <p:nvSpPr>
          <p:cNvPr id="320" name="Google Shape;320;p17"/>
          <p:cNvSpPr txBox="1"/>
          <p:nvPr/>
        </p:nvSpPr>
        <p:spPr>
          <a:xfrm>
            <a:off x="227475" y="1505778"/>
            <a:ext cx="11737200" cy="49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65113" marR="0" lvl="0" indent="-303213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Font typeface="Noto Sans Symbols"/>
              <a:buChar char="🞂"/>
            </a:pPr>
            <a:r>
              <a:rPr lang="en-IN" sz="3000" b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Feasibility study: By analysing the business requirements and constraints the </a:t>
            </a:r>
            <a:r>
              <a:rPr lang="en-IN" sz="3000" b="1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viability of the application is determined</a:t>
            </a:r>
            <a:endParaRPr sz="2000" b="1"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265113" marR="0" lvl="0" indent="-303213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3000"/>
              <a:buFont typeface="Noto Sans Symbols"/>
              <a:buChar char="🞂"/>
            </a:pPr>
            <a:r>
              <a:rPr lang="en-IN" sz="3000" b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Business study: The </a:t>
            </a:r>
            <a:r>
              <a:rPr lang="en-IN" sz="3000" b="1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functional</a:t>
            </a:r>
            <a:r>
              <a:rPr lang="en-IN" sz="3000" b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and </a:t>
            </a:r>
            <a:r>
              <a:rPr lang="en-IN" sz="3000" b="1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informational requirements </a:t>
            </a:r>
            <a:r>
              <a:rPr lang="en-IN" sz="3000" b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are </a:t>
            </a:r>
            <a:r>
              <a:rPr lang="en-IN" sz="3000" b="1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identified</a:t>
            </a:r>
            <a:r>
              <a:rPr lang="en-IN" sz="3000" b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and then the </a:t>
            </a:r>
            <a:r>
              <a:rPr lang="en-IN" sz="3000" b="1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business value </a:t>
            </a:r>
            <a:r>
              <a:rPr lang="en-IN" sz="3000" b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of the application is </a:t>
            </a:r>
            <a:r>
              <a:rPr lang="en-IN" sz="3000" b="1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determined</a:t>
            </a:r>
            <a:endParaRPr sz="2000" b="1"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265113" marR="0" lvl="0" indent="-303213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3000"/>
              <a:buFont typeface="Noto Sans Symbols"/>
              <a:buChar char="🞂"/>
            </a:pPr>
            <a:r>
              <a:rPr lang="en-IN" sz="3000" b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Functional model iteration: The </a:t>
            </a:r>
            <a:r>
              <a:rPr lang="en-IN" sz="3000" b="1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incremental approach </a:t>
            </a:r>
            <a:r>
              <a:rPr lang="en-IN" sz="3000" b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is adopted for development</a:t>
            </a:r>
            <a:endParaRPr sz="2000" b="1"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265113" marR="0" lvl="0" indent="-303213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3000"/>
              <a:buFont typeface="Noto Sans Symbols"/>
              <a:buChar char="🞂"/>
            </a:pPr>
            <a:r>
              <a:rPr lang="en-IN" sz="3000" b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Design and build iteration: If possible </a:t>
            </a:r>
            <a:r>
              <a:rPr lang="en-IN" sz="3000" b="1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design and build activities </a:t>
            </a:r>
            <a:r>
              <a:rPr lang="en-IN" sz="3000" b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can be carried out in </a:t>
            </a:r>
            <a:r>
              <a:rPr lang="en-IN" sz="3000" b="1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parallel</a:t>
            </a:r>
            <a:endParaRPr sz="2000" b="1"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265113" marR="0" lvl="0" indent="-303213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3000"/>
              <a:buFont typeface="Noto Sans Symbols"/>
              <a:buChar char="🞂"/>
            </a:pPr>
            <a:r>
              <a:rPr lang="en-IN" sz="3000" b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Implementation: The software </a:t>
            </a:r>
            <a:r>
              <a:rPr lang="en-IN" sz="3000" b="1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increment</a:t>
            </a:r>
            <a:r>
              <a:rPr lang="en-IN" sz="3000" b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is placed in the working environment</a:t>
            </a:r>
            <a:endParaRPr sz="2000" b="1"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18"/>
          <p:cNvSpPr txBox="1"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prstGeom prst="rect">
            <a:avLst/>
          </a:prstGeom>
          <a:solidFill>
            <a:srgbClr val="C0C0C0">
              <a:alpha val="49803"/>
            </a:srgbClr>
          </a:solidFill>
          <a:ln>
            <a:noFill/>
          </a:ln>
        </p:spPr>
        <p:txBody>
          <a:bodyPr spcFirstLastPara="1" wrap="square" lIns="216000" tIns="108000" rIns="216000" bIns="1080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3400"/>
              <a:buFont typeface="Roboto Condensed"/>
              <a:buNone/>
            </a:pPr>
            <a:r>
              <a:rPr lang="en-IN"/>
              <a:t>Feature Driven Development (FDD)</a:t>
            </a:r>
            <a:endParaRPr/>
          </a:p>
        </p:txBody>
      </p:sp>
      <p:pic>
        <p:nvPicPr>
          <p:cNvPr id="326" name="Google Shape;326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92742" y="1060824"/>
            <a:ext cx="8849503" cy="3700462"/>
          </a:xfrm>
          <a:prstGeom prst="rect">
            <a:avLst/>
          </a:prstGeom>
          <a:noFill/>
          <a:ln>
            <a:noFill/>
          </a:ln>
        </p:spPr>
      </p:pic>
      <p:sp>
        <p:nvSpPr>
          <p:cNvPr id="327" name="Google Shape;327;p18"/>
          <p:cNvSpPr/>
          <p:nvPr/>
        </p:nvSpPr>
        <p:spPr>
          <a:xfrm>
            <a:off x="9386046" y="2312893"/>
            <a:ext cx="2528047" cy="2568389"/>
          </a:xfrm>
          <a:prstGeom prst="wedgeRoundRectCallout">
            <a:avLst>
              <a:gd name="adj1" fmla="val -67889"/>
              <a:gd name="adj2" fmla="val -93553"/>
              <a:gd name="adj3" fmla="val 16667"/>
            </a:avLst>
          </a:prstGeom>
          <a:solidFill>
            <a:schemeClr val="lt1"/>
          </a:solidFill>
          <a:ln w="12700" cap="flat" cmpd="sng">
            <a:solidFill>
              <a:schemeClr val="accent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It is practical process model for </a:t>
            </a:r>
            <a:r>
              <a:rPr lang="en-IN" sz="2400" b="1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object oriented software engineering</a:t>
            </a:r>
            <a:endParaRPr/>
          </a:p>
        </p:txBody>
      </p:sp>
      <p:sp>
        <p:nvSpPr>
          <p:cNvPr id="328" name="Google Shape;328;p18"/>
          <p:cNvSpPr/>
          <p:nvPr/>
        </p:nvSpPr>
        <p:spPr>
          <a:xfrm>
            <a:off x="524437" y="5447085"/>
            <a:ext cx="6293222" cy="738562"/>
          </a:xfrm>
          <a:prstGeom prst="wedgeRoundRectCallout">
            <a:avLst>
              <a:gd name="adj1" fmla="val -14906"/>
              <a:gd name="adj2" fmla="val -148689"/>
              <a:gd name="adj3" fmla="val 16667"/>
            </a:avLst>
          </a:prstGeom>
          <a:solidFill>
            <a:schemeClr val="lt1"/>
          </a:solidFill>
          <a:ln w="12700" cap="flat" cmpd="sng">
            <a:solidFill>
              <a:schemeClr val="accent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In FDD, the </a:t>
            </a:r>
            <a:r>
              <a:rPr lang="en-IN" sz="2400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feature means client valued function</a:t>
            </a:r>
            <a:r>
              <a:rPr lang="en-IN"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.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19"/>
          <p:cNvSpPr txBox="1"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prstGeom prst="rect">
            <a:avLst/>
          </a:prstGeom>
          <a:solidFill>
            <a:srgbClr val="C0C0C0">
              <a:alpha val="49803"/>
            </a:srgbClr>
          </a:solidFill>
          <a:ln>
            <a:noFill/>
          </a:ln>
        </p:spPr>
        <p:txBody>
          <a:bodyPr spcFirstLastPara="1" wrap="square" lIns="216000" tIns="108000" rIns="216000" bIns="1080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3400"/>
              <a:buFont typeface="Roboto Condensed"/>
              <a:buNone/>
            </a:pPr>
            <a:r>
              <a:rPr lang="en-IN"/>
              <a:t>Feature Driven Development (FDD) cont.</a:t>
            </a:r>
            <a:endParaRPr/>
          </a:p>
        </p:txBody>
      </p:sp>
      <p:sp>
        <p:nvSpPr>
          <p:cNvPr id="334" name="Google Shape;334;p19"/>
          <p:cNvSpPr/>
          <p:nvPr/>
        </p:nvSpPr>
        <p:spPr>
          <a:xfrm>
            <a:off x="172170" y="868214"/>
            <a:ext cx="3740924" cy="461665"/>
          </a:xfrm>
          <a:prstGeom prst="rect">
            <a:avLst/>
          </a:prstGeom>
          <a:solidFill>
            <a:schemeClr val="accent4"/>
          </a:solidFill>
          <a:ln w="12700" cap="flat" cmpd="sng">
            <a:solidFill>
              <a:srgbClr val="86333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 b="1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1. Develop overall model</a:t>
            </a:r>
            <a:endParaRPr/>
          </a:p>
        </p:txBody>
      </p:sp>
      <p:cxnSp>
        <p:nvCxnSpPr>
          <p:cNvPr id="335" name="Google Shape;335;p19"/>
          <p:cNvCxnSpPr/>
          <p:nvPr/>
        </p:nvCxnSpPr>
        <p:spPr>
          <a:xfrm>
            <a:off x="1993263" y="1329879"/>
            <a:ext cx="4111702" cy="0"/>
          </a:xfrm>
          <a:prstGeom prst="straightConnector1">
            <a:avLst/>
          </a:prstGeom>
          <a:noFill/>
          <a:ln w="12700" cap="flat" cmpd="sng">
            <a:solidFill>
              <a:schemeClr val="accent6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36" name="Google Shape;336;p19"/>
          <p:cNvSpPr txBox="1"/>
          <p:nvPr/>
        </p:nvSpPr>
        <p:spPr>
          <a:xfrm>
            <a:off x="190499" y="1443094"/>
            <a:ext cx="5781282" cy="12328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65113" marR="0" lvl="0" indent="-265113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Noto Sans Symbols"/>
              <a:buChar char="🞂"/>
            </a:pPr>
            <a:r>
              <a:rPr lang="en-IN"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The high-level </a:t>
            </a:r>
            <a:r>
              <a:rPr lang="en-IN" sz="2400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walkthrough of scope </a:t>
            </a:r>
            <a:r>
              <a:rPr lang="en-IN"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and detailed domain walkthrough are conducted to create overall models.</a:t>
            </a:r>
            <a:endParaRPr/>
          </a:p>
        </p:txBody>
      </p:sp>
      <p:sp>
        <p:nvSpPr>
          <p:cNvPr id="337" name="Google Shape;337;p19"/>
          <p:cNvSpPr/>
          <p:nvPr/>
        </p:nvSpPr>
        <p:spPr>
          <a:xfrm>
            <a:off x="153841" y="2675966"/>
            <a:ext cx="3740924" cy="461665"/>
          </a:xfrm>
          <a:prstGeom prst="rect">
            <a:avLst/>
          </a:prstGeom>
          <a:solidFill>
            <a:schemeClr val="accent4"/>
          </a:solidFill>
          <a:ln w="12700" cap="flat" cmpd="sng">
            <a:solidFill>
              <a:srgbClr val="86333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 b="1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2. Build feature list</a:t>
            </a:r>
            <a:endParaRPr/>
          </a:p>
        </p:txBody>
      </p:sp>
      <p:cxnSp>
        <p:nvCxnSpPr>
          <p:cNvPr id="338" name="Google Shape;338;p19"/>
          <p:cNvCxnSpPr/>
          <p:nvPr/>
        </p:nvCxnSpPr>
        <p:spPr>
          <a:xfrm>
            <a:off x="1974934" y="3137631"/>
            <a:ext cx="4111702" cy="0"/>
          </a:xfrm>
          <a:prstGeom prst="straightConnector1">
            <a:avLst/>
          </a:prstGeom>
          <a:noFill/>
          <a:ln w="12700" cap="flat" cmpd="sng">
            <a:solidFill>
              <a:schemeClr val="accent6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39" name="Google Shape;339;p19"/>
          <p:cNvSpPr txBox="1"/>
          <p:nvPr/>
        </p:nvSpPr>
        <p:spPr>
          <a:xfrm>
            <a:off x="172170" y="3250846"/>
            <a:ext cx="5781282" cy="7712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65113" marR="0" lvl="0" indent="-265113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Noto Sans Symbols"/>
              <a:buChar char="🞂"/>
            </a:pPr>
            <a:r>
              <a:rPr lang="en-IN"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List of </a:t>
            </a:r>
            <a:r>
              <a:rPr lang="en-IN" sz="2400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features</a:t>
            </a:r>
            <a:r>
              <a:rPr lang="en-IN"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is created and expressed in the following form</a:t>
            </a:r>
            <a:endParaRPr/>
          </a:p>
        </p:txBody>
      </p:sp>
      <p:sp>
        <p:nvSpPr>
          <p:cNvPr id="340" name="Google Shape;340;p19"/>
          <p:cNvSpPr/>
          <p:nvPr/>
        </p:nvSpPr>
        <p:spPr>
          <a:xfrm>
            <a:off x="336176" y="4072133"/>
            <a:ext cx="5750460" cy="40011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09575" marR="0" lvl="0" indent="-34290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000" b="1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&lt;action&gt; </a:t>
            </a:r>
            <a:r>
              <a:rPr lang="en-IN" sz="2000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the </a:t>
            </a:r>
            <a:r>
              <a:rPr lang="en-IN" sz="2000" b="1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&lt;result&gt; &lt;by for of to&gt; </a:t>
            </a:r>
            <a:r>
              <a:rPr lang="en-IN" sz="20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a(n) </a:t>
            </a:r>
            <a:r>
              <a:rPr lang="en-IN" sz="2000" b="1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&lt;object&gt;</a:t>
            </a:r>
            <a:endParaRPr/>
          </a:p>
        </p:txBody>
      </p:sp>
      <p:sp>
        <p:nvSpPr>
          <p:cNvPr id="341" name="Google Shape;341;p19"/>
          <p:cNvSpPr/>
          <p:nvPr/>
        </p:nvSpPr>
        <p:spPr>
          <a:xfrm>
            <a:off x="341849" y="4518438"/>
            <a:ext cx="5763116" cy="384721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09575" marR="0" lvl="0" indent="-34290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900" b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For Ex. “Display product-specifications of the product”</a:t>
            </a:r>
            <a:endParaRPr sz="19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342" name="Google Shape;342;p19"/>
          <p:cNvSpPr/>
          <p:nvPr/>
        </p:nvSpPr>
        <p:spPr>
          <a:xfrm>
            <a:off x="135512" y="5134873"/>
            <a:ext cx="3740924" cy="461665"/>
          </a:xfrm>
          <a:prstGeom prst="rect">
            <a:avLst/>
          </a:prstGeom>
          <a:solidFill>
            <a:schemeClr val="accent4"/>
          </a:solidFill>
          <a:ln w="12700" cap="flat" cmpd="sng">
            <a:solidFill>
              <a:srgbClr val="86333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 b="1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3. Plan by feature</a:t>
            </a:r>
            <a:endParaRPr/>
          </a:p>
        </p:txBody>
      </p:sp>
      <p:cxnSp>
        <p:nvCxnSpPr>
          <p:cNvPr id="343" name="Google Shape;343;p19"/>
          <p:cNvCxnSpPr/>
          <p:nvPr/>
        </p:nvCxnSpPr>
        <p:spPr>
          <a:xfrm>
            <a:off x="1956605" y="5596538"/>
            <a:ext cx="4111702" cy="0"/>
          </a:xfrm>
          <a:prstGeom prst="straightConnector1">
            <a:avLst/>
          </a:prstGeom>
          <a:noFill/>
          <a:ln w="12700" cap="flat" cmpd="sng">
            <a:solidFill>
              <a:schemeClr val="accent6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44" name="Google Shape;344;p19"/>
          <p:cNvSpPr txBox="1"/>
          <p:nvPr/>
        </p:nvSpPr>
        <p:spPr>
          <a:xfrm>
            <a:off x="153841" y="5709753"/>
            <a:ext cx="5781282" cy="8793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65113" marR="0" lvl="0" indent="-265113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Noto Sans Symbols"/>
              <a:buChar char="🞂"/>
            </a:pPr>
            <a:r>
              <a:rPr lang="en-IN"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After completing the feature list the </a:t>
            </a:r>
            <a:r>
              <a:rPr lang="en-IN" sz="2400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development plan is created</a:t>
            </a:r>
            <a:endParaRPr/>
          </a:p>
        </p:txBody>
      </p:sp>
      <p:cxnSp>
        <p:nvCxnSpPr>
          <p:cNvPr id="345" name="Google Shape;345;p19"/>
          <p:cNvCxnSpPr/>
          <p:nvPr/>
        </p:nvCxnSpPr>
        <p:spPr>
          <a:xfrm>
            <a:off x="6360460" y="747191"/>
            <a:ext cx="0" cy="5868762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46" name="Google Shape;346;p19"/>
          <p:cNvSpPr/>
          <p:nvPr/>
        </p:nvSpPr>
        <p:spPr>
          <a:xfrm>
            <a:off x="6617796" y="872699"/>
            <a:ext cx="2768251" cy="461665"/>
          </a:xfrm>
          <a:prstGeom prst="rect">
            <a:avLst/>
          </a:prstGeom>
          <a:solidFill>
            <a:schemeClr val="accent4"/>
          </a:solidFill>
          <a:ln w="12700" cap="flat" cmpd="sng">
            <a:solidFill>
              <a:srgbClr val="86333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 b="1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Design by feature</a:t>
            </a:r>
            <a:endParaRPr/>
          </a:p>
        </p:txBody>
      </p:sp>
      <p:cxnSp>
        <p:nvCxnSpPr>
          <p:cNvPr id="347" name="Google Shape;347;p19"/>
          <p:cNvCxnSpPr/>
          <p:nvPr/>
        </p:nvCxnSpPr>
        <p:spPr>
          <a:xfrm>
            <a:off x="8438889" y="1334364"/>
            <a:ext cx="3448311" cy="0"/>
          </a:xfrm>
          <a:prstGeom prst="straightConnector1">
            <a:avLst/>
          </a:prstGeom>
          <a:noFill/>
          <a:ln w="12700" cap="flat" cmpd="sng">
            <a:solidFill>
              <a:schemeClr val="accent6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48" name="Google Shape;348;p19"/>
          <p:cNvSpPr txBox="1"/>
          <p:nvPr/>
        </p:nvSpPr>
        <p:spPr>
          <a:xfrm>
            <a:off x="6636125" y="1447579"/>
            <a:ext cx="5372099" cy="878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65113" marR="0" lvl="0" indent="-265113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Noto Sans Symbols"/>
              <a:buChar char="🞂"/>
            </a:pPr>
            <a:r>
              <a:rPr lang="en-IN"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For each feature the </a:t>
            </a:r>
            <a:r>
              <a:rPr lang="en-IN" sz="2400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sequence diagram is created</a:t>
            </a:r>
            <a:endParaRPr/>
          </a:p>
        </p:txBody>
      </p:sp>
      <p:sp>
        <p:nvSpPr>
          <p:cNvPr id="349" name="Google Shape;349;p19"/>
          <p:cNvSpPr/>
          <p:nvPr/>
        </p:nvSpPr>
        <p:spPr>
          <a:xfrm>
            <a:off x="6615956" y="2324910"/>
            <a:ext cx="2768251" cy="461665"/>
          </a:xfrm>
          <a:prstGeom prst="rect">
            <a:avLst/>
          </a:prstGeom>
          <a:solidFill>
            <a:schemeClr val="accent4"/>
          </a:solidFill>
          <a:ln w="12700" cap="flat" cmpd="sng">
            <a:solidFill>
              <a:srgbClr val="86333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 b="1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Build by feature</a:t>
            </a:r>
            <a:endParaRPr/>
          </a:p>
        </p:txBody>
      </p:sp>
      <p:cxnSp>
        <p:nvCxnSpPr>
          <p:cNvPr id="350" name="Google Shape;350;p19"/>
          <p:cNvCxnSpPr/>
          <p:nvPr/>
        </p:nvCxnSpPr>
        <p:spPr>
          <a:xfrm>
            <a:off x="8437049" y="2786575"/>
            <a:ext cx="3448311" cy="0"/>
          </a:xfrm>
          <a:prstGeom prst="straightConnector1">
            <a:avLst/>
          </a:prstGeom>
          <a:noFill/>
          <a:ln w="12700" cap="flat" cmpd="sng">
            <a:solidFill>
              <a:schemeClr val="accent6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51" name="Google Shape;351;p19"/>
          <p:cNvSpPr txBox="1"/>
          <p:nvPr/>
        </p:nvSpPr>
        <p:spPr>
          <a:xfrm>
            <a:off x="6634285" y="2899790"/>
            <a:ext cx="5372099" cy="878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65113" marR="0" lvl="0" indent="-265113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Noto Sans Symbols"/>
              <a:buChar char="🞂"/>
            </a:pPr>
            <a:r>
              <a:rPr lang="en-IN"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Finally the </a:t>
            </a:r>
            <a:r>
              <a:rPr lang="en-IN" sz="2400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class owner</a:t>
            </a:r>
            <a:r>
              <a:rPr lang="en-IN"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develop the </a:t>
            </a:r>
            <a:r>
              <a:rPr lang="en-IN" sz="2400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actual code </a:t>
            </a:r>
            <a:r>
              <a:rPr lang="en-IN"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for their classes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3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g2ec05b7cb4e_0_481"/>
          <p:cNvSpPr txBox="1">
            <a:spLocks noGrp="1"/>
          </p:cNvSpPr>
          <p:nvPr>
            <p:ph type="title"/>
          </p:nvPr>
        </p:nvSpPr>
        <p:spPr>
          <a:xfrm>
            <a:off x="0" y="1"/>
            <a:ext cx="12192000" cy="711300"/>
          </a:xfrm>
          <a:prstGeom prst="rect">
            <a:avLst/>
          </a:prstGeom>
        </p:spPr>
        <p:txBody>
          <a:bodyPr spcFirstLastPara="1" wrap="square" lIns="216000" tIns="108000" rIns="216000" bIns="1080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Agile Modeling</a:t>
            </a:r>
            <a:endParaRPr/>
          </a:p>
        </p:txBody>
      </p:sp>
      <p:sp>
        <p:nvSpPr>
          <p:cNvPr id="358" name="Google Shape;358;g2ec05b7cb4e_0_481"/>
          <p:cNvSpPr txBox="1">
            <a:spLocks noGrp="1"/>
          </p:cNvSpPr>
          <p:nvPr>
            <p:ph type="body" idx="1"/>
          </p:nvPr>
        </p:nvSpPr>
        <p:spPr>
          <a:xfrm>
            <a:off x="131180" y="863444"/>
            <a:ext cx="11929500" cy="55905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2800" b="1">
                <a:latin typeface="Roboto Condensed"/>
                <a:ea typeface="Roboto Condensed"/>
                <a:cs typeface="Roboto Condensed"/>
                <a:sym typeface="Roboto Condensed"/>
              </a:rPr>
              <a:t>There are many situations in which software engineers must build large, business critical systems. The scope and complexity of such systems must be modeled so that</a:t>
            </a:r>
            <a:endParaRPr sz="2800" b="1"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0" lvl="0" indent="0" algn="just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-IN" sz="2800" b="1">
                <a:latin typeface="Roboto Condensed"/>
                <a:ea typeface="Roboto Condensed"/>
                <a:cs typeface="Roboto Condensed"/>
                <a:sym typeface="Roboto Condensed"/>
              </a:rPr>
              <a:t>(1) All constituencies</a:t>
            </a:r>
            <a:r>
              <a:rPr lang="en-IN" sz="2800" b="1">
                <a:solidFill>
                  <a:srgbClr val="BF2323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can better understand</a:t>
            </a:r>
            <a:r>
              <a:rPr lang="en-IN" sz="2800" b="1">
                <a:latin typeface="Roboto Condensed"/>
                <a:ea typeface="Roboto Condensed"/>
                <a:cs typeface="Roboto Condensed"/>
                <a:sym typeface="Roboto Condensed"/>
              </a:rPr>
              <a:t> what needs to be accomplished.</a:t>
            </a:r>
            <a:endParaRPr sz="2800" b="1"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0" lvl="0" indent="0" algn="just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2800" b="1">
                <a:latin typeface="Roboto Condensed"/>
                <a:ea typeface="Roboto Condensed"/>
                <a:cs typeface="Roboto Condensed"/>
                <a:sym typeface="Roboto Condensed"/>
              </a:rPr>
              <a:t>(2) The problem</a:t>
            </a:r>
            <a:r>
              <a:rPr lang="en-IN" sz="2800" b="1">
                <a:solidFill>
                  <a:srgbClr val="BF2323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can be partitioned effectively</a:t>
            </a:r>
            <a:r>
              <a:rPr lang="en-IN" sz="2800" b="1">
                <a:latin typeface="Roboto Condensed"/>
                <a:ea typeface="Roboto Condensed"/>
                <a:cs typeface="Roboto Condensed"/>
                <a:sym typeface="Roboto Condensed"/>
              </a:rPr>
              <a:t> among the people who must solve it.</a:t>
            </a:r>
            <a:endParaRPr sz="2800" b="1"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0" lvl="0" indent="0" algn="just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-IN" sz="2800" b="1">
                <a:latin typeface="Roboto Condensed"/>
                <a:ea typeface="Roboto Condensed"/>
                <a:cs typeface="Roboto Condensed"/>
                <a:sym typeface="Roboto Condensed"/>
              </a:rPr>
              <a:t>(3) Quality can be assessed as the</a:t>
            </a:r>
            <a:r>
              <a:rPr lang="en-IN" sz="2800" b="1">
                <a:solidFill>
                  <a:srgbClr val="BF2323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system is being engineered and built.</a:t>
            </a:r>
            <a:endParaRPr sz="2800" b="1">
              <a:solidFill>
                <a:srgbClr val="BF2323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0" lvl="0" indent="0" algn="just" rtl="0">
              <a:spcBef>
                <a:spcPts val="1600"/>
              </a:spcBef>
              <a:spcAft>
                <a:spcPts val="0"/>
              </a:spcAft>
              <a:buNone/>
            </a:pPr>
            <a:endParaRPr sz="2800" b="1"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0" lvl="0" indent="0" algn="just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2800" b="1">
                <a:latin typeface="Roboto Condensed"/>
                <a:ea typeface="Roboto Condensed"/>
                <a:cs typeface="Roboto Condensed"/>
                <a:sym typeface="Roboto Condensed"/>
              </a:rPr>
              <a:t>Various methods have been introduced throughout the years -These methods have merit, but they have proven to be difficult to apply and challenging to sustain (over many projects). Part of the problem is the </a:t>
            </a:r>
            <a:r>
              <a:rPr lang="en-IN" sz="2800" b="1">
                <a:solidFill>
                  <a:srgbClr val="BF2323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“weight”</a:t>
            </a:r>
            <a:r>
              <a:rPr lang="en-IN" sz="2800" b="1">
                <a:latin typeface="Roboto Condensed"/>
                <a:ea typeface="Roboto Condensed"/>
                <a:cs typeface="Roboto Condensed"/>
                <a:sym typeface="Roboto Condensed"/>
              </a:rPr>
              <a:t> of these modeling methods. </a:t>
            </a:r>
            <a:endParaRPr sz="2800" b="1"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0" lvl="0" indent="0" algn="just" rtl="0">
              <a:spcBef>
                <a:spcPts val="1600"/>
              </a:spcBef>
              <a:spcAft>
                <a:spcPts val="1600"/>
              </a:spcAft>
              <a:buNone/>
            </a:pPr>
            <a:endParaRPr sz="2800" b="1"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g2ec05b7cb4e_0_489"/>
          <p:cNvSpPr txBox="1">
            <a:spLocks noGrp="1"/>
          </p:cNvSpPr>
          <p:nvPr>
            <p:ph type="title"/>
          </p:nvPr>
        </p:nvSpPr>
        <p:spPr>
          <a:xfrm>
            <a:off x="0" y="1"/>
            <a:ext cx="12192000" cy="711300"/>
          </a:xfrm>
          <a:prstGeom prst="rect">
            <a:avLst/>
          </a:prstGeom>
        </p:spPr>
        <p:txBody>
          <a:bodyPr spcFirstLastPara="1" wrap="square" lIns="216000" tIns="108000" rIns="216000" bIns="1080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/>
              <a:t>Agile Modeling</a:t>
            </a:r>
            <a:endParaRPr/>
          </a:p>
        </p:txBody>
      </p:sp>
      <p:sp>
        <p:nvSpPr>
          <p:cNvPr id="365" name="Google Shape;365;g2ec05b7cb4e_0_489"/>
          <p:cNvSpPr txBox="1">
            <a:spLocks noGrp="1"/>
          </p:cNvSpPr>
          <p:nvPr>
            <p:ph type="body" idx="1"/>
          </p:nvPr>
        </p:nvSpPr>
        <p:spPr>
          <a:xfrm>
            <a:off x="131180" y="863444"/>
            <a:ext cx="11929500" cy="55905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IN" sz="2900" b="1">
                <a:latin typeface="Roboto Condensed"/>
                <a:ea typeface="Roboto Condensed"/>
                <a:cs typeface="Roboto Condensed"/>
                <a:sym typeface="Roboto Condensed"/>
              </a:rPr>
              <a:t>“</a:t>
            </a:r>
            <a:r>
              <a:rPr lang="en-IN" sz="2900" b="1" i="1">
                <a:latin typeface="Roboto Condensed"/>
                <a:ea typeface="Roboto Condensed"/>
                <a:cs typeface="Roboto Condensed"/>
                <a:sym typeface="Roboto Condensed"/>
              </a:rPr>
              <a:t>Agile Modeling (AM) is a practice-based methodology for effective modeling and documentation of software-based systems. Simply put, Agile Modeling (AM) is a collection of values, principles, and practices for modeling software that can be applied on a software development project in an effective and light-weight manner. Agile models are more effective than traditional models because they are just barely good, they don’t have to be perfect.”</a:t>
            </a:r>
            <a:endParaRPr sz="2900" b="1" i="1"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0" lvl="0" indent="0" algn="just" rtl="0">
              <a:spcBef>
                <a:spcPts val="1600"/>
              </a:spcBef>
              <a:spcAft>
                <a:spcPts val="0"/>
              </a:spcAft>
              <a:buNone/>
            </a:pPr>
            <a:endParaRPr sz="2900" b="1"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0" lvl="0" indent="0" algn="just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-IN" sz="2900" b="1">
                <a:latin typeface="Roboto Condensed"/>
                <a:ea typeface="Roboto Condensed"/>
                <a:cs typeface="Roboto Condensed"/>
                <a:sym typeface="Roboto Condensed"/>
              </a:rPr>
              <a:t>The agile modeling philosophy recognizes that an agile team must have the courage to make decisions that may cause it to </a:t>
            </a:r>
            <a:r>
              <a:rPr lang="en-IN" sz="2900" b="1">
                <a:solidFill>
                  <a:srgbClr val="BF2323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reject a design and refactor</a:t>
            </a:r>
            <a:r>
              <a:rPr lang="en-IN" sz="2900" b="1">
                <a:latin typeface="Roboto Condensed"/>
                <a:ea typeface="Roboto Condensed"/>
                <a:cs typeface="Roboto Condensed"/>
                <a:sym typeface="Roboto Condensed"/>
              </a:rPr>
              <a:t> - </a:t>
            </a:r>
            <a:r>
              <a:rPr lang="en-IN" sz="2900" b="1">
                <a:solidFill>
                  <a:srgbClr val="BF2323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We might not have all the answers!</a:t>
            </a:r>
            <a:endParaRPr sz="2900" b="1">
              <a:solidFill>
                <a:srgbClr val="BF2323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g2ec05b7cb4e_0_497"/>
          <p:cNvSpPr txBox="1">
            <a:spLocks noGrp="1"/>
          </p:cNvSpPr>
          <p:nvPr>
            <p:ph type="title"/>
          </p:nvPr>
        </p:nvSpPr>
        <p:spPr>
          <a:xfrm>
            <a:off x="0" y="1"/>
            <a:ext cx="12192000" cy="711300"/>
          </a:xfrm>
          <a:prstGeom prst="rect">
            <a:avLst/>
          </a:prstGeom>
        </p:spPr>
        <p:txBody>
          <a:bodyPr spcFirstLastPara="1" wrap="square" lIns="216000" tIns="108000" rIns="216000" bIns="1080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Agile Modeling</a:t>
            </a:r>
            <a:endParaRPr/>
          </a:p>
        </p:txBody>
      </p:sp>
      <p:sp>
        <p:nvSpPr>
          <p:cNvPr id="372" name="Google Shape;372;g2ec05b7cb4e_0_497"/>
          <p:cNvSpPr txBox="1"/>
          <p:nvPr/>
        </p:nvSpPr>
        <p:spPr>
          <a:xfrm>
            <a:off x="780100" y="2139025"/>
            <a:ext cx="3255900" cy="610500"/>
          </a:xfrm>
          <a:prstGeom prst="rect">
            <a:avLst/>
          </a:prstGeom>
          <a:solidFill>
            <a:srgbClr val="BF2323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800" b="1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Model with a purpose</a:t>
            </a:r>
            <a:endParaRPr sz="2800" b="1">
              <a:solidFill>
                <a:schemeClr val="lt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373" name="Google Shape;373;g2ec05b7cb4e_0_497"/>
          <p:cNvSpPr txBox="1"/>
          <p:nvPr/>
        </p:nvSpPr>
        <p:spPr>
          <a:xfrm>
            <a:off x="871450" y="3003675"/>
            <a:ext cx="3255900" cy="610500"/>
          </a:xfrm>
          <a:prstGeom prst="rect">
            <a:avLst/>
          </a:prstGeom>
          <a:solidFill>
            <a:srgbClr val="BF2323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800" b="1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Use multiple models</a:t>
            </a:r>
            <a:endParaRPr sz="2800" b="1">
              <a:solidFill>
                <a:schemeClr val="lt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374" name="Google Shape;374;g2ec05b7cb4e_0_497"/>
          <p:cNvSpPr txBox="1"/>
          <p:nvPr/>
        </p:nvSpPr>
        <p:spPr>
          <a:xfrm>
            <a:off x="1395550" y="3885750"/>
            <a:ext cx="2025000" cy="610500"/>
          </a:xfrm>
          <a:prstGeom prst="rect">
            <a:avLst/>
          </a:prstGeom>
          <a:solidFill>
            <a:srgbClr val="BF2323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IN" sz="2800" b="1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Travel light</a:t>
            </a:r>
            <a:endParaRPr sz="2400">
              <a:solidFill>
                <a:schemeClr val="lt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0" lvl="0" indent="0" algn="just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 sz="2800" b="1">
              <a:solidFill>
                <a:schemeClr val="lt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375" name="Google Shape;375;g2ec05b7cb4e_0_497"/>
          <p:cNvSpPr txBox="1"/>
          <p:nvPr/>
        </p:nvSpPr>
        <p:spPr>
          <a:xfrm>
            <a:off x="795250" y="4756275"/>
            <a:ext cx="4100700" cy="1147500"/>
          </a:xfrm>
          <a:prstGeom prst="rect">
            <a:avLst/>
          </a:prstGeom>
          <a:solidFill>
            <a:srgbClr val="BF2323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800" b="1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Content is more important </a:t>
            </a:r>
            <a:endParaRPr sz="2800" b="1">
              <a:solidFill>
                <a:schemeClr val="lt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800" b="1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than representation</a:t>
            </a:r>
            <a:endParaRPr sz="2800" b="1">
              <a:solidFill>
                <a:schemeClr val="lt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376" name="Google Shape;376;g2ec05b7cb4e_0_497"/>
          <p:cNvSpPr txBox="1"/>
          <p:nvPr/>
        </p:nvSpPr>
        <p:spPr>
          <a:xfrm>
            <a:off x="5937025" y="2154963"/>
            <a:ext cx="5913600" cy="610500"/>
          </a:xfrm>
          <a:prstGeom prst="rect">
            <a:avLst/>
          </a:prstGeom>
          <a:solidFill>
            <a:srgbClr val="BF2323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800" b="1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Know the models and the tools you use to create them</a:t>
            </a:r>
            <a:endParaRPr sz="2800" b="1">
              <a:solidFill>
                <a:schemeClr val="lt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377" name="Google Shape;377;g2ec05b7cb4e_0_497"/>
          <p:cNvSpPr txBox="1"/>
          <p:nvPr/>
        </p:nvSpPr>
        <p:spPr>
          <a:xfrm>
            <a:off x="7339150" y="3047550"/>
            <a:ext cx="2232300" cy="610500"/>
          </a:xfrm>
          <a:prstGeom prst="rect">
            <a:avLst/>
          </a:prstGeom>
          <a:solidFill>
            <a:srgbClr val="BF2323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800" b="1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Adapt locally</a:t>
            </a:r>
            <a:endParaRPr sz="2800" b="1">
              <a:solidFill>
                <a:schemeClr val="lt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378" name="Google Shape;378;g2ec05b7cb4e_0_497"/>
          <p:cNvSpPr txBox="1"/>
          <p:nvPr/>
        </p:nvSpPr>
        <p:spPr>
          <a:xfrm>
            <a:off x="556225" y="1031075"/>
            <a:ext cx="112944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600" b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Modeling principles that make AM unique are :</a:t>
            </a:r>
            <a:endParaRPr sz="3600" b="1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cxnSp>
        <p:nvCxnSpPr>
          <p:cNvPr id="379" name="Google Shape;379;g2ec05b7cb4e_0_497"/>
          <p:cNvCxnSpPr/>
          <p:nvPr/>
        </p:nvCxnSpPr>
        <p:spPr>
          <a:xfrm>
            <a:off x="5379225" y="1702625"/>
            <a:ext cx="40800" cy="490440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80" name="Google Shape;380;g2ec05b7cb4e_0_497"/>
          <p:cNvSpPr txBox="1">
            <a:spLocks noGrp="1"/>
          </p:cNvSpPr>
          <p:nvPr>
            <p:ph type="body" idx="1"/>
          </p:nvPr>
        </p:nvSpPr>
        <p:spPr>
          <a:xfrm>
            <a:off x="131180" y="863444"/>
            <a:ext cx="11929500" cy="55905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spcBef>
                <a:spcPts val="1000"/>
              </a:spcBef>
              <a:spcAft>
                <a:spcPts val="1600"/>
              </a:spcAft>
              <a:buNone/>
            </a:pP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Selecting </a:t>
            </a:r>
            <a:r>
              <a:rPr lang="en-US" dirty="0"/>
              <a:t>the Right Software Engineering </a:t>
            </a:r>
            <a:r>
              <a:rPr lang="en-US" dirty="0" smtClean="0"/>
              <a:t>Model                    </a:t>
            </a:r>
            <a:r>
              <a:rPr lang="en-US" sz="2200" dirty="0" smtClean="0">
                <a:solidFill>
                  <a:srgbClr val="00B0F0"/>
                </a:solidFill>
              </a:rPr>
              <a:t>Student Activity       </a:t>
            </a:r>
            <a:endParaRPr lang="en-IN" sz="2200" dirty="0">
              <a:solidFill>
                <a:srgbClr val="00B0F0"/>
              </a:solidFill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76200" indent="0">
              <a:buNone/>
            </a:pPr>
            <a:r>
              <a:rPr lang="en-US" sz="1400" b="1" dirty="0"/>
              <a:t>Scenario A: Mobile Food Delivery Application</a:t>
            </a:r>
            <a:endParaRPr lang="en-US" sz="1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Features change frequently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Requires fast release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Continuous customer feedback</a:t>
            </a:r>
          </a:p>
          <a:p>
            <a:pPr marL="76200" indent="0">
              <a:buNone/>
            </a:pPr>
            <a:r>
              <a:rPr lang="en-US" sz="1400" b="1" dirty="0"/>
              <a:t>Scenario B: Online Banking System</a:t>
            </a:r>
            <a:endParaRPr lang="en-US" sz="1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High security required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Risk of financial loss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Regulatory compliance</a:t>
            </a:r>
          </a:p>
          <a:p>
            <a:pPr marL="76200" indent="0">
              <a:buNone/>
            </a:pPr>
            <a:r>
              <a:rPr lang="en-US" sz="1400" b="1" dirty="0"/>
              <a:t>Scenario C: University Examination Management System</a:t>
            </a:r>
            <a:endParaRPr lang="en-US" sz="1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Requirements are well defined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Heavy documentation required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Minimal changes</a:t>
            </a:r>
          </a:p>
          <a:p>
            <a:pPr marL="76200" indent="0">
              <a:buNone/>
            </a:pPr>
            <a:r>
              <a:rPr lang="en-US" sz="1400" b="1" dirty="0"/>
              <a:t>Scenario D: Hospital Appointment Booking System</a:t>
            </a:r>
            <a:endParaRPr lang="en-US" sz="1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User interaction is critical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Workflow differs per hospital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UI/UX is important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6725528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BF2323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1242</TotalTime>
  <Words>1938</Words>
  <Application>Microsoft Office PowerPoint</Application>
  <PresentationFormat>Widescreen</PresentationFormat>
  <Paragraphs>258</Paragraphs>
  <Slides>24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0" baseType="lpstr">
      <vt:lpstr>Noto Sans Symbols</vt:lpstr>
      <vt:lpstr>Arial</vt:lpstr>
      <vt:lpstr>Roboto Condensed</vt:lpstr>
      <vt:lpstr>Roboto Condensed Light</vt:lpstr>
      <vt:lpstr>Calibri</vt:lpstr>
      <vt:lpstr>Simple Light</vt:lpstr>
      <vt:lpstr>PowerPoint Presentation</vt:lpstr>
      <vt:lpstr>PowerPoint Presentation</vt:lpstr>
      <vt:lpstr>Agility</vt:lpstr>
      <vt:lpstr>What is Agility? Cont.</vt:lpstr>
      <vt:lpstr>Agile Process</vt:lpstr>
      <vt:lpstr>Agility Principles</vt:lpstr>
      <vt:lpstr>Where agile methodology not work</vt:lpstr>
      <vt:lpstr>Extreme Programming (XP)</vt:lpstr>
      <vt:lpstr>The XP Process</vt:lpstr>
      <vt:lpstr>The XP Process cont.</vt:lpstr>
      <vt:lpstr>What is Scrum?</vt:lpstr>
      <vt:lpstr>Scrum framework at a glance</vt:lpstr>
      <vt:lpstr>Scrum cont.</vt:lpstr>
      <vt:lpstr>Scrum cont.</vt:lpstr>
      <vt:lpstr>Adaptive Software development (ASD)</vt:lpstr>
      <vt:lpstr>Adaptive Software development (ASD) cont.</vt:lpstr>
      <vt:lpstr>Dynamic Systems Development Methods (DSDM)</vt:lpstr>
      <vt:lpstr>Feature Driven Development (FDD)</vt:lpstr>
      <vt:lpstr>Feature Driven Development (FDD) cont.</vt:lpstr>
      <vt:lpstr>Agile Modeling</vt:lpstr>
      <vt:lpstr>Agile Modeling</vt:lpstr>
      <vt:lpstr>Agile Modeling</vt:lpstr>
      <vt:lpstr>Selecting the Right Software Engineering Model                    Student Activity       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Nandini Modi</cp:lastModifiedBy>
  <cp:revision>14</cp:revision>
  <dcterms:created xsi:type="dcterms:W3CDTF">2020-05-01T05:09:15Z</dcterms:created>
  <dcterms:modified xsi:type="dcterms:W3CDTF">2026-01-20T04:18:37Z</dcterms:modified>
</cp:coreProperties>
</file>